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bfd77fe-03e2-6546-a804-6bce07a290d6}">
          <p14:sldIdLst>
            <p14:sldId id="256"/>
          </p14:sldIdLst>
        </p14:section>
        <p14:section name="Problem and approach" id="{7a71857f-309d-5f71-4a7f-40c7a8ca5df4}">
          <p14:sldIdLst>
            <p14:sldId id="257"/>
          </p14:sldIdLst>
        </p14:section>
        <p14:section name="What we built" id="{dbb821b4-cdc9-d775-d34b-494d58c4df5e}">
          <p14:sldIdLst>
            <p14:sldId id="258"/>
          </p14:sldIdLst>
        </p14:section>
        <p14:section name="Results" id="{7678d0da-f8f1-48e0-dd88-1e62a7680d36}">
          <p14:sldIdLst>
            <p14:sldId id="259"/>
          </p14:sldIdLst>
        </p14:section>
        <p14:section name="What we learned" id="{f447f4e6-9e21-23a8-835c-b63cbdb4eae5}">
          <p14:sldIdLst>
            <p14:sldId id="260"/>
          </p14:sldIdLst>
        </p14:section>
        <p14:section name="Next steps" id="{5de38bd5-2ed5-d759-f09a-b38902fc145f}">
          <p14:sldIdLst>
            <p14:sldId id="261"/>
          </p14:sldIdLst>
        </p14:section>
        <p14:section name="Scaling up" id="{873ca933-4cd6-1e85-83c0-672a06d536b5}">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Walert-style baseline (200-word + BM25)</c:v>
                </c:pt>
              </c:strCache>
            </c:strRef>
          </c:tx>
          <c:spPr>
            <a:solidFill>
              <a:srgbClr val="8A9A9D"/>
            </a:solidFill>
            <a:effectLst/>
          </c:spPr>
          <c:invertIfNegative val="0"/>
          <c:dLbls>
            <c:numFmt formatCode="0.00" sourceLinked="0"/>
            <c:txPr>
              <a:bodyPr/>
              <a:lstStyle/>
              <a:p>
                <a:pPr>
                  <a:defRPr b="0" i="0" strike="noStrike" sz="1100" u="none">
                    <a:solidFill>
                      <a:srgbClr val="1E2A2E"/>
                    </a:solidFill>
                    <a:latin typeface="+mn-lt"/>
                  </a:defRPr>
                </a:pPr>
              </a:p>
            </c:txPr>
            <c:showLegendKey val="0"/>
            <c:showVal val="1"/>
            <c:showCatName val="0"/>
            <c:showSerName val="0"/>
            <c:showPercent val="0"/>
            <c:showBubbleSize val="0"/>
            <c:showLeaderLines val="0"/>
          </c:dLbls>
          <c:cat>
            <c:multiLvlStrRef>
              <c:f>Sheet1!$A$2:$A$5</c:f>
              <c:multiLvlStrCache>
                <c:ptCount val="4"/>
                <c:lvl>
                  <c:pt idx="0">
                    <c:v>Recall@5</c:v>
                  </c:pt>
                  <c:pt idx="1">
                    <c:v>Right paper cited</c:v>
                  </c:pt>
                  <c:pt idx="2">
                    <c:v>Unsupported declined</c:v>
                  </c:pt>
                  <c:pt idx="3">
                    <c:v>MRR</c:v>
                  </c:pt>
                </c:lvl>
              </c:multiLvlStrCache>
            </c:multiLvlStrRef>
          </c:cat>
          <c:val>
            <c:numRef>
              <c:f>Sheet1!$B$2:$B$5</c:f>
              <c:numCache>
                <c:formatCode>General</c:formatCode>
                <c:ptCount val="4"/>
                <c:pt idx="0">
                  <c:v>0.59</c:v>
                </c:pt>
                <c:pt idx="1">
                  <c:v>0.81</c:v>
                </c:pt>
                <c:pt idx="2">
                  <c:v>0.86</c:v>
                </c:pt>
                <c:pt idx="3">
                  <c:v>0.42</c:v>
                </c:pt>
              </c:numCache>
            </c:numRef>
          </c:val>
        </c:ser>
        <c:ser>
          <c:idx val="1"/>
          <c:order val="1"/>
          <c:tx>
            <c:strRef>
              <c:f>Sheet1!$C$1</c:f>
              <c:strCache>
                <c:ptCount val="1"/>
                <c:pt idx="0">
                  <c:v>Best setup (400-word + hybrid + routing)</c:v>
                </c:pt>
              </c:strCache>
            </c:strRef>
          </c:tx>
          <c:spPr>
            <a:solidFill>
              <a:srgbClr val="0F6E73"/>
            </a:solidFill>
            <a:effectLst/>
          </c:spPr>
          <c:invertIfNegative val="0"/>
          <c:dLbls>
            <c:numFmt formatCode="0.00" sourceLinked="0"/>
            <c:txPr>
              <a:bodyPr/>
              <a:lstStyle/>
              <a:p>
                <a:pPr>
                  <a:defRPr b="0" i="0" strike="noStrike" sz="1100" u="none">
                    <a:solidFill>
                      <a:srgbClr val="1E2A2E"/>
                    </a:solidFill>
                    <a:latin typeface="+mn-lt"/>
                  </a:defRPr>
                </a:pPr>
              </a:p>
            </c:txPr>
            <c:showLegendKey val="0"/>
            <c:showVal val="1"/>
            <c:showCatName val="0"/>
            <c:showSerName val="0"/>
            <c:showPercent val="0"/>
            <c:showBubbleSize val="0"/>
            <c:showLeaderLines val="0"/>
          </c:dLbls>
          <c:cat>
            <c:multiLvlStrRef>
              <c:f>Sheet1!$A$2:$A$5</c:f>
              <c:multiLvlStrCache>
                <c:ptCount val="4"/>
                <c:lvl>
                  <c:pt idx="0">
                    <c:v>Recall@5</c:v>
                  </c:pt>
                  <c:pt idx="1">
                    <c:v>Right paper cited</c:v>
                  </c:pt>
                  <c:pt idx="2">
                    <c:v>Unsupported declined</c:v>
                  </c:pt>
                  <c:pt idx="3">
                    <c:v>MRR</c:v>
                  </c:pt>
                </c:lvl>
              </c:multiLvlStrCache>
            </c:multiLvlStrRef>
          </c:cat>
          <c:val>
            <c:numRef>
              <c:f>Sheet1!$C$2:$C$5</c:f>
              <c:numCache>
                <c:formatCode>General</c:formatCode>
                <c:ptCount val="4"/>
                <c:pt idx="0">
                  <c:v>0.71</c:v>
                </c:pt>
                <c:pt idx="1">
                  <c:v>1</c:v>
                </c:pt>
                <c:pt idx="2">
                  <c:v>1</c:v>
                </c:pt>
                <c:pt idx="3">
                  <c:v>0.32</c:v>
                </c:pt>
              </c:numCache>
            </c:numRef>
          </c:val>
        </c:ser>
        <c:dLbls>
          <c:numFmt formatCode="0.00" sourceLinked="0"/>
          <c:txPr>
            <a:bodyPr/>
            <a:lstStyle/>
            <a:p>
              <a:pPr>
                <a:defRPr b="0" i="0" strike="noStrike" sz="1100" u="none">
                  <a:solidFill>
                    <a:srgbClr val="1E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A2E"/>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Dhanush (0:25).
Hi everyone, we're WIL Project 24. I'm Dhanush, and I'm presenting with Imranjit and Chetan.
Our project is a research assistant that answers questions about a collection of academic papers, using retrieval-augmented generation, or RAG. The difference is that it has to stay grounded. Every answer cites the passage it came from, and if the evidence isn't there, it says so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Dhanush (0:50).
Our user is a researcher who wants to compare methods across papers without reading every one.
Our eight papers are all about retrieval-augmented question answering, so they share the same vocabulary: retriever, passages, BM25, RAG. That means the real risk isn't a missing answer. It's a confident answer credited to the wrong paper.
So we worked test-first. Before tuning anything, we wrote 24 questions, each with an exact sentence from the paper as its evidence. Seven of them can't be answered from the papers at all, to check that the system knows when to stop. Walert, the RMIT chatbot, is our baseline. And the answer step follows one rule: every sentence cites a passage, or the reply is 'insufficient evidence'.
HANDOVER: Imranjit will now show how it all fits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Imranjit (0:55).
Thanks, Dhanush. This is our pipeline.
We download the eight papers from arXiv and pin each one by version and checksum, so every result is tied to an exact copy of the corpus. Ingestion then turns the PDFs into clean text. That was harder than we expected. Real papers gave us author affiliations read as section headings, an abstract read after the introduction, and figure labels dropped into the middle of sentences. We fixed all three.
Next, we split the text four ways, retrieve with five methods, and generate a cited answer. That's twenty combinations, all scored on the same 24 questions. A validate step stops the run if any evidence sentence goes missing from the extracted text, and it caught several extraction bugs early.
HANDOVER: Chetan will take you through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Chetan (0:55).
Thanks, Imranjit. This chart compares the Walert-style baseline, in grey, with our best setup, in teal.
Recall at five, which means the right passage is somewhere in the top five results, rose from 0.59 to 0.71. Citation precision reached 1.00, so every cited passage came from the right paper. And the system declined all seven unanswerable questions, against six for the baseline.
One trade-off we want to be upfront about: MRR fell from 0.42 to 0.32. We find the right passage more often, but it tends to rank lower in the top five. We chose the best setup with a stated rule that combines recall, citation precision and correct refusals. Choosing on MRR alone picked a setup that answered three of the seven unanswerable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Chetan (0:55).
We gave every failure a label, and one pattern dominated: retrieving from the wrong paper. When we asked which retrieval models Walert used, the system returned passages from the RAG paper. Words like 'retrieval' and 'RAG' appear everywhere, and they outweighed the word 'Walert'.
So we added paper-aware routing. When a question names papers, the top five results are shared among those papers. That took citation precision to 1.00 for every chunking method.
We also learned that dense retrieval on its own was the weakest option, and that bigger chunks make recall look better than it is. One caveat: we designed the routing after seeing these failures, so we're now testing it on new questions it hasn't seen.
HANDOVER: Imranjit will close with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Imranjit (0:35).
Sprints one and two are done: the corpus, question set and baseline, then the full pipeline. Sprint three, this week, delivered the evaluation, the error analysis and the routing fix.
Next, Deboprio is validating the routing on held-out questions, and I'm fixing the remaining PDF text errors, like garbled equations and a font that turns 'Query' into 'Qery'. Two items are blocked: model-written answers need an API key, and pushing to GitHub needs an access fix. Both have owners on our Trello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Imranjit (0:25).
Finally, how we'll scale this up. First, we finish Sprint 3, so we have a trustworthy baseline. Then we grow from eight to about twenty or thirty papers on the same topic. More similar papers make the wrong-paper test harder, and the question is whether citation precision stays near 1.00. After that, we add a second topic to check the system isn't tuned to one field, and only then go to hundreds of papers.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WIL Project 24 · Paper-grounded RAG research assistant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rPr>
              <a:t>A source-grounded RAG research assistant</a:t>
            </a:r>
            <a:endParaRPr lang="en-US" sz="38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indent="0" marL="0">
              <a:buNone/>
            </a:pPr>
            <a:r>
              <a:rPr lang="en-US" sz="1800" dirty="0">
                <a:solidFill>
                  <a:schemeClr val="bg2"/>
                </a:solidFill>
              </a:rPr>
              <a:t>Comparing methods across academic papers without mixing up who said what</a:t>
            </a:r>
            <a:endParaRPr lang="en-US" sz="1800" dirty="0"/>
          </a:p>
        </p:txBody>
      </p:sp>
      <p:pic>
        <p:nvPicPr>
          <p:cNvPr id="4" name="Book icon" descr="preencoded.png">    </p:cNvPr>
          <p:cNvPicPr>
            <a:picLocks noChangeAspect="1"/>
          </p:cNvPicPr>
          <p:nvPr/>
        </p:nvPicPr>
        <p:blipFill>
          <a:blip r:embed="rId1"/>
          <a:stretch>
            <a:fillRect/>
          </a:stretch>
        </p:blipFill>
        <p:spPr>
          <a:xfrm>
            <a:off x="548640" y="502920"/>
            <a:ext cx="548640" cy="548640"/>
          </a:xfrm>
          <a:prstGeom prst="rect">
            <a:avLst/>
          </a:prstGeom>
        </p:spPr>
      </p:pic>
      <p:sp>
        <p:nvSpPr>
          <p:cNvPr id="5" name="Team"/>
          <p:cNvSpPr txBox="1"/>
          <p:nvPr/>
        </p:nvSpPr>
        <p:spPr>
          <a:xfrm>
            <a:off x="548640" y="3977640"/>
            <a:ext cx="8046720" cy="320040"/>
          </a:xfrm>
          <a:prstGeom prst="rect">
            <a:avLst/>
          </a:prstGeom>
          <a:noFill/>
          <a:ln/>
        </p:spPr>
        <p:txBody>
          <a:bodyPr wrap="square" lIns="0" tIns="0" rIns="0" bIns="0" rtlCol="0" anchor="ctr"/>
          <a:lstStyle/>
          <a:p>
            <a:pPr indent="0" marL="0">
              <a:buNone/>
            </a:pPr>
            <a:r>
              <a:rPr lang="en-US" sz="1200" dirty="0">
                <a:solidFill>
                  <a:schemeClr val="bg1"/>
                </a:solidFill>
              </a:rPr>
              <a:t>Chetan Bera · Imranjit Singh Kohli · Deboprio Saha Argha · Qiling Huang · Dhanush Sridhar · Amritpal Singh Gill</a:t>
            </a:r>
            <a:endParaRPr lang="en-US" sz="1200" dirty="0"/>
          </a:p>
        </p:txBody>
      </p:sp>
      <p:sp>
        <p:nvSpPr>
          <p:cNvPr id="6" name="Date"/>
          <p:cNvSpPr txBox="1"/>
          <p:nvPr/>
        </p:nvSpPr>
        <p:spPr>
          <a:xfrm>
            <a:off x="548640" y="4297680"/>
            <a:ext cx="8046720" cy="274320"/>
          </a:xfrm>
          <a:prstGeom prst="rect">
            <a:avLst/>
          </a:prstGeom>
          <a:noFill/>
          <a:ln/>
        </p:spPr>
        <p:txBody>
          <a:bodyPr wrap="square" lIns="0" tIns="0" rIns="0" bIns="0" rtlCol="0" anchor="ctr"/>
          <a:lstStyle/>
          <a:p>
            <a:pPr indent="0" marL="0">
              <a:buNone/>
            </a:pPr>
            <a:r>
              <a:rPr lang="en-US" sz="1200" dirty="0">
                <a:solidFill>
                  <a:schemeClr val="accent3"/>
                </a:solidFill>
              </a:rPr>
              <a:t>WIL Project 24 · Sprint 3 update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risk: right answer, wrong paper</a:t>
            </a:r>
            <a:endParaRPr lang="en-US" sz="3000" dirty="0"/>
          </a:p>
        </p:txBody>
      </p:sp>
      <p:sp>
        <p:nvSpPr>
          <p:cNvPr id="3" name="User story card"/>
          <p:cNvSpPr/>
          <p:nvPr/>
        </p:nvSpPr>
        <p:spPr>
          <a:xfrm>
            <a:off x="457200" y="1143000"/>
            <a:ext cx="3931920" cy="3017520"/>
          </a:xfrm>
          <a:prstGeom prst="roundRect">
            <a:avLst>
              <a:gd name="adj" fmla="val 3636"/>
            </a:avLst>
          </a:prstGeom>
          <a:solidFill>
            <a:schemeClr val="bg2"/>
          </a:solidFill>
          <a:ln/>
        </p:spPr>
      </p:sp>
      <p:sp>
        <p:nvSpPr>
          <p:cNvPr id="4" name="User story text"/>
          <p:cNvSpPr txBox="1"/>
          <p:nvPr/>
        </p:nvSpPr>
        <p:spPr>
          <a:xfrm>
            <a:off x="685800" y="1280160"/>
            <a:ext cx="3474720" cy="2743200"/>
          </a:xfrm>
          <a:prstGeom prst="rect">
            <a:avLst/>
          </a:prstGeom>
          <a:noFill/>
          <a:ln/>
        </p:spPr>
        <p:txBody>
          <a:bodyPr wrap="square" lIns="0" tIns="0" rIns="0" bIns="0" rtlCol="0" anchor="t"/>
          <a:lstStyle/>
          <a:p>
            <a:pPr indent="0" marL="0">
              <a:buNone/>
            </a:pPr>
            <a:r>
              <a:rPr lang="en-US" sz="1600" b="1" dirty="0">
                <a:solidFill>
                  <a:schemeClr val="accent1"/>
                </a:solidFill>
              </a:rPr>
              <a:t>User story</a:t>
            </a:r>
            <a:endParaRPr lang="en-US" sz="1600" dirty="0"/>
          </a:p>
          <a:p>
            <a:pPr indent="0" marL="0">
              <a:buNone/>
            </a:pPr>
            <a:r>
              <a:rPr lang="en-US" sz="1500" i="1" dirty="0">
                <a:solidFill>
                  <a:schemeClr val="tx1"/>
                </a:solidFill>
              </a:rPr>
              <a:t>“As a researcher, I want to query and compare methods across papers so I can find reliable evidence quickly without searching every document.”</a:t>
            </a:r>
            <a:endParaRPr lang="en-US" sz="1600" dirty="0"/>
          </a:p>
          <a:p>
            <a:pPr indent="0" marL="0">
              <a:buNone/>
            </a:pPr>
            <a:r>
              <a:rPr lang="en-US" sz="800" dirty="0">
                <a:solidFill>
                  <a:srgbClr val="000000"/>
                </a:solidFill>
              </a:rPr>
              <a:t> </a:t>
            </a:r>
            <a:endParaRPr lang="en-US" sz="1600" dirty="0"/>
          </a:p>
          <a:p>
            <a:pPr indent="0" marL="0">
              <a:buNone/>
            </a:pPr>
            <a:r>
              <a:rPr lang="en-US" sz="1600" b="1" dirty="0">
                <a:solidFill>
                  <a:schemeClr val="accent1"/>
                </a:solidFill>
              </a:rPr>
              <a:t>Why it's hard</a:t>
            </a:r>
            <a:endParaRPr lang="en-US" sz="1600" dirty="0"/>
          </a:p>
          <a:p>
            <a:pPr indent="0" marL="0">
              <a:buNone/>
            </a:pPr>
            <a:r>
              <a:rPr lang="en-US" sz="1500" dirty="0">
                <a:solidFill>
                  <a:schemeClr val="tx1"/>
                </a:solidFill>
              </a:rPr>
              <a:t>Our 8 papers share the same vocabulary (retriever, passages, BM25, RAG), so a system can easily credit one paper's method to another.</a:t>
            </a:r>
            <a:endParaRPr lang="en-US" sz="1600" dirty="0"/>
          </a:p>
        </p:txBody>
      </p:sp>
      <p:sp>
        <p:nvSpPr>
          <p:cNvPr id="5" name="Approach icon bg 1"/>
          <p:cNvSpPr/>
          <p:nvPr/>
        </p:nvSpPr>
        <p:spPr>
          <a:xfrm>
            <a:off x="4754880" y="1188720"/>
            <a:ext cx="548640" cy="548640"/>
          </a:xfrm>
          <a:prstGeom prst="ellipse">
            <a:avLst/>
          </a:prstGeom>
          <a:solidFill>
            <a:schemeClr val="accent1"/>
          </a:solidFill>
          <a:ln/>
        </p:spPr>
      </p:sp>
      <p:pic>
        <p:nvPicPr>
          <p:cNvPr id="6" name="Approach icon 1" descr="preencoded.png">    </p:cNvPr>
          <p:cNvPicPr>
            <a:picLocks noChangeAspect="1"/>
          </p:cNvPicPr>
          <p:nvPr/>
        </p:nvPicPr>
        <p:blipFill>
          <a:blip r:embed="rId1"/>
          <a:stretch>
            <a:fillRect/>
          </a:stretch>
        </p:blipFill>
        <p:spPr>
          <a:xfrm>
            <a:off x="4892040" y="1325880"/>
            <a:ext cx="274320" cy="274320"/>
          </a:xfrm>
          <a:prstGeom prst="rect">
            <a:avLst/>
          </a:prstGeom>
        </p:spPr>
      </p:pic>
      <p:sp>
        <p:nvSpPr>
          <p:cNvPr id="7" name="Approach text 1"/>
          <p:cNvSpPr txBox="1"/>
          <p:nvPr/>
        </p:nvSpPr>
        <p:spPr>
          <a:xfrm>
            <a:off x="5486400" y="1115568"/>
            <a:ext cx="3200400" cy="914400"/>
          </a:xfrm>
          <a:prstGeom prst="rect">
            <a:avLst/>
          </a:prstGeom>
          <a:noFill/>
          <a:ln/>
        </p:spPr>
        <p:txBody>
          <a:bodyPr wrap="square" lIns="0" tIns="0" rIns="0" bIns="0" rtlCol="0" anchor="t"/>
          <a:lstStyle/>
          <a:p>
            <a:pPr indent="0" marL="0">
              <a:buNone/>
            </a:pPr>
            <a:r>
              <a:rPr lang="en-US" sz="1600" b="1" dirty="0">
                <a:solidFill>
                  <a:schemeClr val="tx1"/>
                </a:solidFill>
              </a:rPr>
              <a:t>Test-driven evaluation</a:t>
            </a:r>
            <a:endParaRPr lang="en-US" sz="1600" dirty="0"/>
          </a:p>
          <a:p>
            <a:pPr indent="0" marL="0">
              <a:buNone/>
            </a:pPr>
            <a:r>
              <a:rPr lang="en-US" sz="1400" dirty="0">
                <a:solidFill>
                  <a:schemeClr val="accent6"/>
                </a:solidFill>
              </a:rPr>
              <a:t>24 questions with exact evidence sentences, written before any tuning</a:t>
            </a:r>
            <a:endParaRPr lang="en-US" sz="1600" dirty="0"/>
          </a:p>
        </p:txBody>
      </p:sp>
      <p:sp>
        <p:nvSpPr>
          <p:cNvPr id="8" name="Approach icon bg 2"/>
          <p:cNvSpPr/>
          <p:nvPr/>
        </p:nvSpPr>
        <p:spPr>
          <a:xfrm>
            <a:off x="4754880" y="2286000"/>
            <a:ext cx="548640" cy="548640"/>
          </a:xfrm>
          <a:prstGeom prst="ellipse">
            <a:avLst/>
          </a:prstGeom>
          <a:solidFill>
            <a:schemeClr val="accent1"/>
          </a:solidFill>
          <a:ln/>
        </p:spPr>
      </p:sp>
      <p:pic>
        <p:nvPicPr>
          <p:cNvPr id="9" name="Approach icon 2" descr="preencoded.png">    </p:cNvPr>
          <p:cNvPicPr>
            <a:picLocks noChangeAspect="1"/>
          </p:cNvPicPr>
          <p:nvPr/>
        </p:nvPicPr>
        <p:blipFill>
          <a:blip r:embed="rId2"/>
          <a:stretch>
            <a:fillRect/>
          </a:stretch>
        </p:blipFill>
        <p:spPr>
          <a:xfrm>
            <a:off x="4892040" y="2423160"/>
            <a:ext cx="274320" cy="274320"/>
          </a:xfrm>
          <a:prstGeom prst="rect">
            <a:avLst/>
          </a:prstGeom>
        </p:spPr>
      </p:pic>
      <p:sp>
        <p:nvSpPr>
          <p:cNvPr id="10" name="Approach text 2"/>
          <p:cNvSpPr txBox="1"/>
          <p:nvPr/>
        </p:nvSpPr>
        <p:spPr>
          <a:xfrm>
            <a:off x="5486400" y="2212848"/>
            <a:ext cx="3200400" cy="914400"/>
          </a:xfrm>
          <a:prstGeom prst="rect">
            <a:avLst/>
          </a:prstGeom>
          <a:noFill/>
          <a:ln/>
        </p:spPr>
        <p:txBody>
          <a:bodyPr wrap="square" lIns="0" tIns="0" rIns="0" bIns="0" rtlCol="0" anchor="t"/>
          <a:lstStyle/>
          <a:p>
            <a:pPr indent="0" marL="0">
              <a:buNone/>
            </a:pPr>
            <a:r>
              <a:rPr lang="en-US" sz="1600" b="1" dirty="0">
                <a:solidFill>
                  <a:schemeClr val="tx1"/>
                </a:solidFill>
              </a:rPr>
              <a:t>Walert as the baseline</a:t>
            </a:r>
            <a:endParaRPr lang="en-US" sz="1600" dirty="0"/>
          </a:p>
          <a:p>
            <a:pPr indent="0" marL="0">
              <a:buNone/>
            </a:pPr>
            <a:r>
              <a:rPr lang="en-US" sz="1400" dirty="0">
                <a:solidFill>
                  <a:schemeClr val="accent6"/>
                </a:solidFill>
              </a:rPr>
              <a:t>Every change compared against a Walert-style BM25 setup</a:t>
            </a:r>
            <a:endParaRPr lang="en-US" sz="1600" dirty="0"/>
          </a:p>
        </p:txBody>
      </p:sp>
      <p:sp>
        <p:nvSpPr>
          <p:cNvPr id="11" name="Approach icon bg 3"/>
          <p:cNvSpPr/>
          <p:nvPr/>
        </p:nvSpPr>
        <p:spPr>
          <a:xfrm>
            <a:off x="4754880" y="3383280"/>
            <a:ext cx="548640" cy="548640"/>
          </a:xfrm>
          <a:prstGeom prst="ellipse">
            <a:avLst/>
          </a:prstGeom>
          <a:solidFill>
            <a:schemeClr val="accent1"/>
          </a:solidFill>
          <a:ln/>
        </p:spPr>
      </p:sp>
      <p:pic>
        <p:nvPicPr>
          <p:cNvPr id="12" name="Approach icon 3" descr="preencoded.png">    </p:cNvPr>
          <p:cNvPicPr>
            <a:picLocks noChangeAspect="1"/>
          </p:cNvPicPr>
          <p:nvPr/>
        </p:nvPicPr>
        <p:blipFill>
          <a:blip r:embed="rId3"/>
          <a:stretch>
            <a:fillRect/>
          </a:stretch>
        </p:blipFill>
        <p:spPr>
          <a:xfrm>
            <a:off x="4892040" y="3520440"/>
            <a:ext cx="274320" cy="274320"/>
          </a:xfrm>
          <a:prstGeom prst="rect">
            <a:avLst/>
          </a:prstGeom>
        </p:spPr>
      </p:pic>
      <p:sp>
        <p:nvSpPr>
          <p:cNvPr id="13" name="Approach text 3"/>
          <p:cNvSpPr txBox="1"/>
          <p:nvPr/>
        </p:nvSpPr>
        <p:spPr>
          <a:xfrm>
            <a:off x="5486400" y="3310128"/>
            <a:ext cx="3200400" cy="914400"/>
          </a:xfrm>
          <a:prstGeom prst="rect">
            <a:avLst/>
          </a:prstGeom>
          <a:noFill/>
          <a:ln/>
        </p:spPr>
        <p:txBody>
          <a:bodyPr wrap="square" lIns="0" tIns="0" rIns="0" bIns="0" rtlCol="0" anchor="t"/>
          <a:lstStyle/>
          <a:p>
            <a:pPr indent="0" marL="0">
              <a:buNone/>
            </a:pPr>
            <a:r>
              <a:rPr lang="en-US" sz="1600" b="1" dirty="0">
                <a:solidFill>
                  <a:schemeClr val="tx1"/>
                </a:solidFill>
              </a:rPr>
              <a:t>Cite or decline</a:t>
            </a:r>
            <a:endParaRPr lang="en-US" sz="1600" dirty="0"/>
          </a:p>
          <a:p>
            <a:pPr indent="0" marL="0">
              <a:buNone/>
            </a:pPr>
            <a:r>
              <a:rPr lang="en-US" sz="1400" dirty="0">
                <a:solidFill>
                  <a:schemeClr val="accent6"/>
                </a:solidFill>
              </a:rPr>
              <a:t>Each sentence cites a passage, or the answer is INSUFFICIENT_EVIDENCE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What we built: a pipeline we can test end to end</a:t>
            </a:r>
            <a:endParaRPr lang="en-US" sz="3000" dirty="0"/>
          </a:p>
        </p:txBody>
      </p:sp>
      <p:sp>
        <p:nvSpPr>
          <p:cNvPr id="3" name="Step card 1"/>
          <p:cNvSpPr/>
          <p:nvPr/>
        </p:nvSpPr>
        <p:spPr>
          <a:xfrm>
            <a:off x="457200" y="1234440"/>
            <a:ext cx="1463040" cy="2148840"/>
          </a:xfrm>
          <a:prstGeom prst="roundRect">
            <a:avLst>
              <a:gd name="adj" fmla="val 6250"/>
            </a:avLst>
          </a:prstGeom>
          <a:solidFill>
            <a:schemeClr val="bg2"/>
          </a:solidFill>
          <a:ln/>
        </p:spPr>
      </p:sp>
      <p:sp>
        <p:nvSpPr>
          <p:cNvPr id="4" name="Step icon bg 1"/>
          <p:cNvSpPr/>
          <p:nvPr/>
        </p:nvSpPr>
        <p:spPr>
          <a:xfrm>
            <a:off x="868680" y="1417320"/>
            <a:ext cx="640080" cy="640080"/>
          </a:xfrm>
          <a:prstGeom prst="ellipse">
            <a:avLst/>
          </a:prstGeom>
          <a:solidFill>
            <a:schemeClr val="accent1"/>
          </a:solidFill>
          <a:ln/>
        </p:spPr>
      </p:sp>
      <p:pic>
        <p:nvPicPr>
          <p:cNvPr id="5" name="Step icon 1" descr="preencoded.png">    </p:cNvPr>
          <p:cNvPicPr>
            <a:picLocks noChangeAspect="1"/>
          </p:cNvPicPr>
          <p:nvPr/>
        </p:nvPicPr>
        <p:blipFill>
          <a:blip r:embed="rId1"/>
          <a:stretch>
            <a:fillRect/>
          </a:stretch>
        </p:blipFill>
        <p:spPr>
          <a:xfrm>
            <a:off x="1024128" y="1572768"/>
            <a:ext cx="329184" cy="329184"/>
          </a:xfrm>
          <a:prstGeom prst="rect">
            <a:avLst/>
          </a:prstGeom>
        </p:spPr>
      </p:pic>
      <p:sp>
        <p:nvSpPr>
          <p:cNvPr id="6" name="Step name 1"/>
          <p:cNvSpPr txBox="1"/>
          <p:nvPr/>
        </p:nvSpPr>
        <p:spPr>
          <a:xfrm>
            <a:off x="548640" y="219456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Corpus</a:t>
            </a:r>
            <a:endParaRPr lang="en-US" sz="1600" dirty="0"/>
          </a:p>
        </p:txBody>
      </p:sp>
      <p:sp>
        <p:nvSpPr>
          <p:cNvPr id="7" name="Step detail 1"/>
          <p:cNvSpPr txBox="1"/>
          <p:nvPr/>
        </p:nvSpPr>
        <p:spPr>
          <a:xfrm>
            <a:off x="566928" y="2560320"/>
            <a:ext cx="1243584" cy="777240"/>
          </a:xfrm>
          <a:prstGeom prst="rect">
            <a:avLst/>
          </a:prstGeom>
          <a:noFill/>
          <a:ln/>
        </p:spPr>
        <p:txBody>
          <a:bodyPr wrap="square" lIns="0" tIns="0" rIns="0" bIns="0" rtlCol="0" anchor="t"/>
          <a:lstStyle/>
          <a:p>
            <a:pPr algn="ctr" indent="0" marL="0">
              <a:buNone/>
            </a:pPr>
            <a:r>
              <a:rPr lang="en-US" sz="1200" dirty="0">
                <a:solidFill>
                  <a:schemeClr val="accent6"/>
                </a:solidFill>
              </a:rPr>
              <a:t>8 arXiv papers, versioned by checksum</a:t>
            </a:r>
            <a:endParaRPr lang="en-US" sz="1200" dirty="0"/>
          </a:p>
        </p:txBody>
      </p:sp>
      <p:sp>
        <p:nvSpPr>
          <p:cNvPr id="8" name="Arrow 1"/>
          <p:cNvSpPr/>
          <p:nvPr/>
        </p:nvSpPr>
        <p:spPr>
          <a:xfrm>
            <a:off x="1956816" y="2194560"/>
            <a:ext cx="155448" cy="228600"/>
          </a:xfrm>
          <a:prstGeom prst="rightArrow">
            <a:avLst/>
          </a:prstGeom>
          <a:solidFill>
            <a:schemeClr val="accent3"/>
          </a:solidFill>
          <a:ln/>
        </p:spPr>
      </p:sp>
      <p:sp>
        <p:nvSpPr>
          <p:cNvPr id="9" name="Step card 2"/>
          <p:cNvSpPr/>
          <p:nvPr/>
        </p:nvSpPr>
        <p:spPr>
          <a:xfrm>
            <a:off x="2148840" y="1234440"/>
            <a:ext cx="1463040" cy="2148840"/>
          </a:xfrm>
          <a:prstGeom prst="roundRect">
            <a:avLst>
              <a:gd name="adj" fmla="val 6250"/>
            </a:avLst>
          </a:prstGeom>
          <a:solidFill>
            <a:schemeClr val="bg2"/>
          </a:solidFill>
          <a:ln/>
        </p:spPr>
      </p:sp>
      <p:sp>
        <p:nvSpPr>
          <p:cNvPr id="10" name="Step icon bg 2"/>
          <p:cNvSpPr/>
          <p:nvPr/>
        </p:nvSpPr>
        <p:spPr>
          <a:xfrm>
            <a:off x="2560320" y="1417320"/>
            <a:ext cx="640080" cy="640080"/>
          </a:xfrm>
          <a:prstGeom prst="ellipse">
            <a:avLst/>
          </a:prstGeom>
          <a:solidFill>
            <a:schemeClr val="accent1"/>
          </a:solidFill>
          <a:ln/>
        </p:spPr>
      </p:sp>
      <p:pic>
        <p:nvPicPr>
          <p:cNvPr id="11" name="Step icon 2" descr="preencoded.png">    </p:cNvPr>
          <p:cNvPicPr>
            <a:picLocks noChangeAspect="1"/>
          </p:cNvPicPr>
          <p:nvPr/>
        </p:nvPicPr>
        <p:blipFill>
          <a:blip r:embed="rId2"/>
          <a:stretch>
            <a:fillRect/>
          </a:stretch>
        </p:blipFill>
        <p:spPr>
          <a:xfrm>
            <a:off x="2715768" y="1572768"/>
            <a:ext cx="329184" cy="329184"/>
          </a:xfrm>
          <a:prstGeom prst="rect">
            <a:avLst/>
          </a:prstGeom>
        </p:spPr>
      </p:pic>
      <p:sp>
        <p:nvSpPr>
          <p:cNvPr id="12" name="Step name 2"/>
          <p:cNvSpPr txBox="1"/>
          <p:nvPr/>
        </p:nvSpPr>
        <p:spPr>
          <a:xfrm>
            <a:off x="2240280" y="219456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Ingest</a:t>
            </a:r>
            <a:endParaRPr lang="en-US" sz="1600" dirty="0"/>
          </a:p>
        </p:txBody>
      </p:sp>
      <p:sp>
        <p:nvSpPr>
          <p:cNvPr id="13" name="Step detail 2"/>
          <p:cNvSpPr txBox="1"/>
          <p:nvPr/>
        </p:nvSpPr>
        <p:spPr>
          <a:xfrm>
            <a:off x="2258568" y="2560320"/>
            <a:ext cx="1243584" cy="777240"/>
          </a:xfrm>
          <a:prstGeom prst="rect">
            <a:avLst/>
          </a:prstGeom>
          <a:noFill/>
          <a:ln/>
        </p:spPr>
        <p:txBody>
          <a:bodyPr wrap="square" lIns="0" tIns="0" rIns="0" bIns="0" rtlCol="0" anchor="t"/>
          <a:lstStyle/>
          <a:p>
            <a:pPr algn="ctr" indent="0" marL="0">
              <a:buNone/>
            </a:pPr>
            <a:r>
              <a:rPr lang="en-US" sz="1200" dirty="0">
                <a:solidFill>
                  <a:schemeClr val="accent6"/>
                </a:solidFill>
              </a:rPr>
              <a:t>Clean text from two-column PDFs, headings found</a:t>
            </a:r>
            <a:endParaRPr lang="en-US" sz="1200" dirty="0"/>
          </a:p>
        </p:txBody>
      </p:sp>
      <p:sp>
        <p:nvSpPr>
          <p:cNvPr id="14" name="Arrow 2"/>
          <p:cNvSpPr/>
          <p:nvPr/>
        </p:nvSpPr>
        <p:spPr>
          <a:xfrm>
            <a:off x="3648456" y="2194560"/>
            <a:ext cx="155448" cy="228600"/>
          </a:xfrm>
          <a:prstGeom prst="rightArrow">
            <a:avLst/>
          </a:prstGeom>
          <a:solidFill>
            <a:schemeClr val="accent3"/>
          </a:solidFill>
          <a:ln/>
        </p:spPr>
      </p:sp>
      <p:sp>
        <p:nvSpPr>
          <p:cNvPr id="15" name="Step card 3"/>
          <p:cNvSpPr/>
          <p:nvPr/>
        </p:nvSpPr>
        <p:spPr>
          <a:xfrm>
            <a:off x="3840480" y="1234440"/>
            <a:ext cx="1463040" cy="2148840"/>
          </a:xfrm>
          <a:prstGeom prst="roundRect">
            <a:avLst>
              <a:gd name="adj" fmla="val 6250"/>
            </a:avLst>
          </a:prstGeom>
          <a:solidFill>
            <a:schemeClr val="bg2"/>
          </a:solidFill>
          <a:ln/>
        </p:spPr>
      </p:sp>
      <p:sp>
        <p:nvSpPr>
          <p:cNvPr id="16" name="Step icon bg 3"/>
          <p:cNvSpPr/>
          <p:nvPr/>
        </p:nvSpPr>
        <p:spPr>
          <a:xfrm>
            <a:off x="4251960" y="1417320"/>
            <a:ext cx="640080" cy="640080"/>
          </a:xfrm>
          <a:prstGeom prst="ellipse">
            <a:avLst/>
          </a:prstGeom>
          <a:solidFill>
            <a:schemeClr val="accent1"/>
          </a:solidFill>
          <a:ln/>
        </p:spPr>
      </p:sp>
      <p:pic>
        <p:nvPicPr>
          <p:cNvPr id="17" name="Step icon 3" descr="preencoded.png">    </p:cNvPr>
          <p:cNvPicPr>
            <a:picLocks noChangeAspect="1"/>
          </p:cNvPicPr>
          <p:nvPr/>
        </p:nvPicPr>
        <p:blipFill>
          <a:blip r:embed="rId3"/>
          <a:stretch>
            <a:fillRect/>
          </a:stretch>
        </p:blipFill>
        <p:spPr>
          <a:xfrm>
            <a:off x="4407408" y="1572768"/>
            <a:ext cx="329184" cy="329184"/>
          </a:xfrm>
          <a:prstGeom prst="rect">
            <a:avLst/>
          </a:prstGeom>
        </p:spPr>
      </p:pic>
      <p:sp>
        <p:nvSpPr>
          <p:cNvPr id="18" name="Step name 3"/>
          <p:cNvSpPr txBox="1"/>
          <p:nvPr/>
        </p:nvSpPr>
        <p:spPr>
          <a:xfrm>
            <a:off x="3931920" y="219456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Chunk</a:t>
            </a:r>
            <a:endParaRPr lang="en-US" sz="1600" dirty="0"/>
          </a:p>
        </p:txBody>
      </p:sp>
      <p:sp>
        <p:nvSpPr>
          <p:cNvPr id="19" name="Step detail 3"/>
          <p:cNvSpPr txBox="1"/>
          <p:nvPr/>
        </p:nvSpPr>
        <p:spPr>
          <a:xfrm>
            <a:off x="3950208" y="2560320"/>
            <a:ext cx="1243584" cy="777240"/>
          </a:xfrm>
          <a:prstGeom prst="rect">
            <a:avLst/>
          </a:prstGeom>
          <a:noFill/>
          <a:ln/>
        </p:spPr>
        <p:txBody>
          <a:bodyPr wrap="square" lIns="0" tIns="0" rIns="0" bIns="0" rtlCol="0" anchor="t"/>
          <a:lstStyle/>
          <a:p>
            <a:pPr algn="ctr" indent="0" marL="0">
              <a:buNone/>
            </a:pPr>
            <a:r>
              <a:rPr lang="en-US" sz="1200" dirty="0">
                <a:solidFill>
                  <a:schemeClr val="accent6"/>
                </a:solidFill>
              </a:rPr>
              <a:t>4 ways: 200 / 400 words, sentence, section</a:t>
            </a:r>
            <a:endParaRPr lang="en-US" sz="1200" dirty="0"/>
          </a:p>
        </p:txBody>
      </p:sp>
      <p:sp>
        <p:nvSpPr>
          <p:cNvPr id="20" name="Arrow 3"/>
          <p:cNvSpPr/>
          <p:nvPr/>
        </p:nvSpPr>
        <p:spPr>
          <a:xfrm>
            <a:off x="5340096" y="2194560"/>
            <a:ext cx="155448" cy="228600"/>
          </a:xfrm>
          <a:prstGeom prst="rightArrow">
            <a:avLst/>
          </a:prstGeom>
          <a:solidFill>
            <a:schemeClr val="accent3"/>
          </a:solidFill>
          <a:ln/>
        </p:spPr>
      </p:sp>
      <p:sp>
        <p:nvSpPr>
          <p:cNvPr id="21" name="Step card 4"/>
          <p:cNvSpPr/>
          <p:nvPr/>
        </p:nvSpPr>
        <p:spPr>
          <a:xfrm>
            <a:off x="5532120" y="1234440"/>
            <a:ext cx="1463040" cy="2148840"/>
          </a:xfrm>
          <a:prstGeom prst="roundRect">
            <a:avLst>
              <a:gd name="adj" fmla="val 6250"/>
            </a:avLst>
          </a:prstGeom>
          <a:solidFill>
            <a:schemeClr val="bg2"/>
          </a:solidFill>
          <a:ln/>
        </p:spPr>
      </p:sp>
      <p:sp>
        <p:nvSpPr>
          <p:cNvPr id="22" name="Step icon bg 4"/>
          <p:cNvSpPr/>
          <p:nvPr/>
        </p:nvSpPr>
        <p:spPr>
          <a:xfrm>
            <a:off x="5943600" y="1417320"/>
            <a:ext cx="640080" cy="640080"/>
          </a:xfrm>
          <a:prstGeom prst="ellipse">
            <a:avLst/>
          </a:prstGeom>
          <a:solidFill>
            <a:schemeClr val="accent1"/>
          </a:solidFill>
          <a:ln/>
        </p:spPr>
      </p:sp>
      <p:pic>
        <p:nvPicPr>
          <p:cNvPr id="23" name="Step icon 4" descr="preencoded.png">    </p:cNvPr>
          <p:cNvPicPr>
            <a:picLocks noChangeAspect="1"/>
          </p:cNvPicPr>
          <p:nvPr/>
        </p:nvPicPr>
        <p:blipFill>
          <a:blip r:embed="rId4"/>
          <a:stretch>
            <a:fillRect/>
          </a:stretch>
        </p:blipFill>
        <p:spPr>
          <a:xfrm>
            <a:off x="6099048" y="1572768"/>
            <a:ext cx="329184" cy="329184"/>
          </a:xfrm>
          <a:prstGeom prst="rect">
            <a:avLst/>
          </a:prstGeom>
        </p:spPr>
      </p:pic>
      <p:sp>
        <p:nvSpPr>
          <p:cNvPr id="24" name="Step name 4"/>
          <p:cNvSpPr txBox="1"/>
          <p:nvPr/>
        </p:nvSpPr>
        <p:spPr>
          <a:xfrm>
            <a:off x="5623560" y="219456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Retrieve</a:t>
            </a:r>
            <a:endParaRPr lang="en-US" sz="1600" dirty="0"/>
          </a:p>
        </p:txBody>
      </p:sp>
      <p:sp>
        <p:nvSpPr>
          <p:cNvPr id="25" name="Step detail 4"/>
          <p:cNvSpPr txBox="1"/>
          <p:nvPr/>
        </p:nvSpPr>
        <p:spPr>
          <a:xfrm>
            <a:off x="5641848" y="2560320"/>
            <a:ext cx="1243584" cy="777240"/>
          </a:xfrm>
          <a:prstGeom prst="rect">
            <a:avLst/>
          </a:prstGeom>
          <a:noFill/>
          <a:ln/>
        </p:spPr>
        <p:txBody>
          <a:bodyPr wrap="square" lIns="0" tIns="0" rIns="0" bIns="0" rtlCol="0" anchor="t"/>
          <a:lstStyle/>
          <a:p>
            <a:pPr algn="ctr" indent="0" marL="0">
              <a:buNone/>
            </a:pPr>
            <a:r>
              <a:rPr lang="en-US" sz="1200" dirty="0">
                <a:solidFill>
                  <a:schemeClr val="accent6"/>
                </a:solidFill>
              </a:rPr>
              <a:t>BM25, TF-IDF, dense, hybrid, + routing</a:t>
            </a:r>
            <a:endParaRPr lang="en-US" sz="1200" dirty="0"/>
          </a:p>
        </p:txBody>
      </p:sp>
      <p:sp>
        <p:nvSpPr>
          <p:cNvPr id="26" name="Arrow 4"/>
          <p:cNvSpPr/>
          <p:nvPr/>
        </p:nvSpPr>
        <p:spPr>
          <a:xfrm>
            <a:off x="7031736" y="2194560"/>
            <a:ext cx="155448" cy="228600"/>
          </a:xfrm>
          <a:prstGeom prst="rightArrow">
            <a:avLst/>
          </a:prstGeom>
          <a:solidFill>
            <a:schemeClr val="accent3"/>
          </a:solidFill>
          <a:ln/>
        </p:spPr>
      </p:sp>
      <p:sp>
        <p:nvSpPr>
          <p:cNvPr id="27" name="Step card 5"/>
          <p:cNvSpPr/>
          <p:nvPr/>
        </p:nvSpPr>
        <p:spPr>
          <a:xfrm>
            <a:off x="7223760" y="1234440"/>
            <a:ext cx="1463040" cy="2148840"/>
          </a:xfrm>
          <a:prstGeom prst="roundRect">
            <a:avLst>
              <a:gd name="adj" fmla="val 6250"/>
            </a:avLst>
          </a:prstGeom>
          <a:solidFill>
            <a:schemeClr val="bg2"/>
          </a:solidFill>
          <a:ln/>
        </p:spPr>
      </p:sp>
      <p:sp>
        <p:nvSpPr>
          <p:cNvPr id="28" name="Step icon bg 5"/>
          <p:cNvSpPr/>
          <p:nvPr/>
        </p:nvSpPr>
        <p:spPr>
          <a:xfrm>
            <a:off x="7635240" y="1417320"/>
            <a:ext cx="640080" cy="640080"/>
          </a:xfrm>
          <a:prstGeom prst="ellipse">
            <a:avLst/>
          </a:prstGeom>
          <a:solidFill>
            <a:schemeClr val="accent1"/>
          </a:solidFill>
          <a:ln/>
        </p:spPr>
      </p:sp>
      <p:pic>
        <p:nvPicPr>
          <p:cNvPr id="29" name="Step icon 5" descr="preencoded.png">    </p:cNvPr>
          <p:cNvPicPr>
            <a:picLocks noChangeAspect="1"/>
          </p:cNvPicPr>
          <p:nvPr/>
        </p:nvPicPr>
        <p:blipFill>
          <a:blip r:embed="rId5"/>
          <a:stretch>
            <a:fillRect/>
          </a:stretch>
        </p:blipFill>
        <p:spPr>
          <a:xfrm>
            <a:off x="7790688" y="1572768"/>
            <a:ext cx="329184" cy="329184"/>
          </a:xfrm>
          <a:prstGeom prst="rect">
            <a:avLst/>
          </a:prstGeom>
        </p:spPr>
      </p:pic>
      <p:sp>
        <p:nvSpPr>
          <p:cNvPr id="30" name="Step name 5"/>
          <p:cNvSpPr txBox="1"/>
          <p:nvPr/>
        </p:nvSpPr>
        <p:spPr>
          <a:xfrm>
            <a:off x="7315200" y="219456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Answer</a:t>
            </a:r>
            <a:endParaRPr lang="en-US" sz="1600" dirty="0"/>
          </a:p>
        </p:txBody>
      </p:sp>
      <p:sp>
        <p:nvSpPr>
          <p:cNvPr id="31" name="Step detail 5"/>
          <p:cNvSpPr txBox="1"/>
          <p:nvPr/>
        </p:nvSpPr>
        <p:spPr>
          <a:xfrm>
            <a:off x="7333488" y="2560320"/>
            <a:ext cx="1243584" cy="777240"/>
          </a:xfrm>
          <a:prstGeom prst="rect">
            <a:avLst/>
          </a:prstGeom>
          <a:noFill/>
          <a:ln/>
        </p:spPr>
        <p:txBody>
          <a:bodyPr wrap="square" lIns="0" tIns="0" rIns="0" bIns="0" rtlCol="0" anchor="t"/>
          <a:lstStyle/>
          <a:p>
            <a:pPr algn="ctr" indent="0" marL="0">
              <a:buNone/>
            </a:pPr>
            <a:r>
              <a:rPr lang="en-US" sz="1200" dirty="0">
                <a:solidFill>
                  <a:schemeClr val="accent6"/>
                </a:solidFill>
              </a:rPr>
              <a:t>Every sentence cited, or a refusal when evidence is missing</a:t>
            </a:r>
            <a:endParaRPr lang="en-US" sz="1200" dirty="0"/>
          </a:p>
        </p:txBody>
      </p:sp>
      <p:sp>
        <p:nvSpPr>
          <p:cNvPr id="32" name="Evaluate band"/>
          <p:cNvSpPr/>
          <p:nvPr/>
        </p:nvSpPr>
        <p:spPr>
          <a:xfrm>
            <a:off x="457200" y="3611880"/>
            <a:ext cx="8229600" cy="868680"/>
          </a:xfrm>
          <a:prstGeom prst="roundRect">
            <a:avLst>
              <a:gd name="adj" fmla="val 10526"/>
            </a:avLst>
          </a:prstGeom>
          <a:solidFill>
            <a:schemeClr val="tx2"/>
          </a:solidFill>
          <a:ln/>
        </p:spPr>
      </p:sp>
      <p:pic>
        <p:nvPicPr>
          <p:cNvPr id="33" name="Evaluate icon" descr="preencoded.png">    </p:cNvPr>
          <p:cNvPicPr>
            <a:picLocks noChangeAspect="1"/>
          </p:cNvPicPr>
          <p:nvPr/>
        </p:nvPicPr>
        <p:blipFill>
          <a:blip r:embed="rId6"/>
          <a:stretch>
            <a:fillRect/>
          </a:stretch>
        </p:blipFill>
        <p:spPr>
          <a:xfrm>
            <a:off x="685800" y="3840480"/>
            <a:ext cx="411480" cy="411480"/>
          </a:xfrm>
          <a:prstGeom prst="rect">
            <a:avLst/>
          </a:prstGeom>
        </p:spPr>
      </p:pic>
      <p:sp>
        <p:nvSpPr>
          <p:cNvPr id="34" name="Evaluate text"/>
          <p:cNvSpPr txBox="1"/>
          <p:nvPr/>
        </p:nvSpPr>
        <p:spPr>
          <a:xfrm>
            <a:off x="1280160" y="3657600"/>
            <a:ext cx="7223760" cy="777240"/>
          </a:xfrm>
          <a:prstGeom prst="rect">
            <a:avLst/>
          </a:prstGeom>
          <a:noFill/>
          <a:ln/>
        </p:spPr>
        <p:txBody>
          <a:bodyPr wrap="square" lIns="0" tIns="0" rIns="0" bIns="0" rtlCol="0" anchor="ctr"/>
          <a:lstStyle/>
          <a:p>
            <a:pPr indent="0" marL="0">
              <a:buNone/>
            </a:pPr>
            <a:r>
              <a:rPr lang="en-US" sz="1400" b="1" dirty="0">
                <a:solidFill>
                  <a:schemeClr val="bg1"/>
                </a:solidFill>
              </a:rPr>
              <a:t>Evaluate  </a:t>
            </a:r>
            <a:pPr indent="0" marL="0">
              <a:buNone/>
            </a:pPr>
            <a:r>
              <a:rPr lang="en-US" sz="1400" dirty="0">
                <a:solidFill>
                  <a:schemeClr val="bg2"/>
                </a:solidFill>
              </a:rPr>
              <a:t>4 chunkers × 5 retrievers = 20 setups, each scored on the same 24 questions. A validate step stops the run if any evidence sentence goes missing from the extracted text.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Results: more evidence found, right paper cited</a:t>
            </a:r>
            <a:endParaRPr lang="en-US" sz="3000" dirty="0"/>
          </a:p>
        </p:txBody>
      </p:sp>
      <p:graphicFrame>
        <p:nvGraphicFramePr>
          <p:cNvPr id="3" name="Baseline vs best chart"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Stat 1"/>
          <p:cNvSpPr txBox="1"/>
          <p:nvPr/>
        </p:nvSpPr>
        <p:spPr>
          <a:xfrm>
            <a:off x="5852160" y="1188720"/>
            <a:ext cx="283464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7 / 7</a:t>
            </a:r>
            <a:endParaRPr lang="en-US" sz="2800" dirty="0"/>
          </a:p>
        </p:txBody>
      </p:sp>
      <p:sp>
        <p:nvSpPr>
          <p:cNvPr id="5" name="Stat label 1"/>
          <p:cNvSpPr txBox="1"/>
          <p:nvPr/>
        </p:nvSpPr>
        <p:spPr>
          <a:xfrm>
            <a:off x="5852160" y="1691640"/>
            <a:ext cx="2834640" cy="548640"/>
          </a:xfrm>
          <a:prstGeom prst="rect">
            <a:avLst/>
          </a:prstGeom>
          <a:noFill/>
          <a:ln/>
        </p:spPr>
        <p:txBody>
          <a:bodyPr wrap="square" lIns="0" tIns="0" rIns="0" bIns="0" rtlCol="0" anchor="t"/>
          <a:lstStyle/>
          <a:p>
            <a:pPr indent="0" marL="0">
              <a:buNone/>
            </a:pPr>
            <a:r>
              <a:rPr lang="en-US" sz="1300" dirty="0">
                <a:solidFill>
                  <a:schemeClr val="accent6"/>
                </a:solidFill>
              </a:rPr>
              <a:t>unsupported questions declined (baseline 6 / 7)</a:t>
            </a:r>
            <a:endParaRPr lang="en-US" sz="1300" dirty="0"/>
          </a:p>
        </p:txBody>
      </p:sp>
      <p:sp>
        <p:nvSpPr>
          <p:cNvPr id="6" name="Stat 2"/>
          <p:cNvSpPr txBox="1"/>
          <p:nvPr/>
        </p:nvSpPr>
        <p:spPr>
          <a:xfrm>
            <a:off x="5852160" y="2331720"/>
            <a:ext cx="283464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1.00</a:t>
            </a:r>
            <a:endParaRPr lang="en-US" sz="2800" dirty="0"/>
          </a:p>
        </p:txBody>
      </p:sp>
      <p:sp>
        <p:nvSpPr>
          <p:cNvPr id="7" name="Stat label 2"/>
          <p:cNvSpPr txBox="1"/>
          <p:nvPr/>
        </p:nvSpPr>
        <p:spPr>
          <a:xfrm>
            <a:off x="5852160" y="2834640"/>
            <a:ext cx="2834640" cy="548640"/>
          </a:xfrm>
          <a:prstGeom prst="rect">
            <a:avLst/>
          </a:prstGeom>
          <a:noFill/>
          <a:ln/>
        </p:spPr>
        <p:txBody>
          <a:bodyPr wrap="square" lIns="0" tIns="0" rIns="0" bIns="0" rtlCol="0" anchor="t"/>
          <a:lstStyle/>
          <a:p>
            <a:pPr indent="0" marL="0">
              <a:buNone/>
            </a:pPr>
            <a:r>
              <a:rPr lang="en-US" sz="1300" dirty="0">
                <a:solidFill>
                  <a:schemeClr val="accent6"/>
                </a:solidFill>
              </a:rPr>
              <a:t>citation precision: every cited passage from the right paper</a:t>
            </a:r>
            <a:endParaRPr lang="en-US" sz="1300" dirty="0"/>
          </a:p>
        </p:txBody>
      </p:sp>
      <p:sp>
        <p:nvSpPr>
          <p:cNvPr id="8" name="Stat 3"/>
          <p:cNvSpPr txBox="1"/>
          <p:nvPr/>
        </p:nvSpPr>
        <p:spPr>
          <a:xfrm>
            <a:off x="5852160" y="3474720"/>
            <a:ext cx="2834640" cy="50292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0.42 → 0.32</a:t>
            </a:r>
            <a:endParaRPr lang="en-US" sz="2800" dirty="0"/>
          </a:p>
        </p:txBody>
      </p:sp>
      <p:sp>
        <p:nvSpPr>
          <p:cNvPr id="9" name="Stat label 3"/>
          <p:cNvSpPr txBox="1"/>
          <p:nvPr/>
        </p:nvSpPr>
        <p:spPr>
          <a:xfrm>
            <a:off x="5852160" y="3977640"/>
            <a:ext cx="2834640" cy="548640"/>
          </a:xfrm>
          <a:prstGeom prst="rect">
            <a:avLst/>
          </a:prstGeom>
          <a:noFill/>
          <a:ln/>
        </p:spPr>
        <p:txBody>
          <a:bodyPr wrap="square" lIns="0" tIns="0" rIns="0" bIns="0" rtlCol="0" anchor="t"/>
          <a:lstStyle/>
          <a:p>
            <a:pPr indent="0" marL="0">
              <a:buNone/>
            </a:pPr>
            <a:r>
              <a:rPr lang="en-US" sz="1300" dirty="0">
                <a:solidFill>
                  <a:schemeClr val="accent6"/>
                </a:solidFill>
              </a:rPr>
              <a:t>MRR fell: the right passage is found more often but ranked lower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Error analysis led to one targeted fix</a:t>
            </a:r>
            <a:endParaRPr lang="en-US" sz="3000" dirty="0"/>
          </a:p>
        </p:txBody>
      </p:sp>
      <p:sp>
        <p:nvSpPr>
          <p:cNvPr id="3" name="Main failure: wrong paper card"/>
          <p:cNvSpPr/>
          <p:nvPr/>
        </p:nvSpPr>
        <p:spPr>
          <a:xfrm>
            <a:off x="457200" y="1143000"/>
            <a:ext cx="3886200" cy="2011680"/>
          </a:xfrm>
          <a:prstGeom prst="roundRect">
            <a:avLst>
              <a:gd name="adj" fmla="val 5455"/>
            </a:avLst>
          </a:prstGeom>
          <a:solidFill>
            <a:schemeClr val="bg2"/>
          </a:solidFill>
          <a:ln/>
        </p:spPr>
      </p:sp>
      <p:pic>
        <p:nvPicPr>
          <p:cNvPr id="4" name="Main failure: wrong paper icon" descr="preencoded.png">    </p:cNvPr>
          <p:cNvPicPr>
            <a:picLocks noChangeAspect="1"/>
          </p:cNvPicPr>
          <p:nvPr/>
        </p:nvPicPr>
        <p:blipFill>
          <a:blip r:embed="rId1"/>
          <a:stretch>
            <a:fillRect/>
          </a:stretch>
        </p:blipFill>
        <p:spPr>
          <a:xfrm>
            <a:off x="685800" y="1325880"/>
            <a:ext cx="365760" cy="365760"/>
          </a:xfrm>
          <a:prstGeom prst="rect">
            <a:avLst/>
          </a:prstGeom>
        </p:spPr>
      </p:pic>
      <p:sp>
        <p:nvSpPr>
          <p:cNvPr id="5" name="Main failure: wrong paper heading"/>
          <p:cNvSpPr txBox="1"/>
          <p:nvPr/>
        </p:nvSpPr>
        <p:spPr>
          <a:xfrm>
            <a:off x="1188720" y="1298448"/>
            <a:ext cx="2971800" cy="411480"/>
          </a:xfrm>
          <a:prstGeom prst="rect">
            <a:avLst/>
          </a:prstGeom>
          <a:noFill/>
          <a:ln/>
        </p:spPr>
        <p:txBody>
          <a:bodyPr wrap="square" lIns="0" tIns="0" rIns="0" bIns="0" rtlCol="0" anchor="ctr"/>
          <a:lstStyle/>
          <a:p>
            <a:pPr indent="0" marL="0">
              <a:buNone/>
            </a:pPr>
            <a:r>
              <a:rPr lang="en-US" sz="1700" b="1" dirty="0">
                <a:solidFill>
                  <a:schemeClr val="tx1"/>
                </a:solidFill>
              </a:rPr>
              <a:t>Main failure: wrong paper</a:t>
            </a:r>
            <a:endParaRPr lang="en-US" sz="1700" dirty="0"/>
          </a:p>
        </p:txBody>
      </p:sp>
      <p:sp>
        <p:nvSpPr>
          <p:cNvPr id="6" name="Main failure: wrong paper body"/>
          <p:cNvSpPr txBox="1"/>
          <p:nvPr/>
        </p:nvSpPr>
        <p:spPr>
          <a:xfrm>
            <a:off x="685800" y="1828800"/>
            <a:ext cx="3474720" cy="1234440"/>
          </a:xfrm>
          <a:prstGeom prst="rect">
            <a:avLst/>
          </a:prstGeom>
          <a:noFill/>
          <a:ln/>
        </p:spPr>
        <p:txBody>
          <a:bodyPr wrap="square" lIns="0" tIns="0" rIns="0" bIns="0" rtlCol="0" anchor="t"/>
          <a:lstStyle/>
          <a:p>
            <a:pPr indent="0" marL="0">
              <a:buNone/>
            </a:pPr>
            <a:r>
              <a:rPr lang="en-US" sz="1400" dirty="0">
                <a:solidFill>
                  <a:schemeClr val="tx1"/>
                </a:solidFill>
              </a:rPr>
              <a:t>“Which retrieval models did Walert use?” returned RAG-paper passages. Shared words like “retrieval” and “RAG” outweighed the paper's name.</a:t>
            </a:r>
            <a:endParaRPr lang="en-US" sz="1400" dirty="0"/>
          </a:p>
        </p:txBody>
      </p:sp>
      <p:sp>
        <p:nvSpPr>
          <p:cNvPr id="7" name="Fix arrow"/>
          <p:cNvSpPr/>
          <p:nvPr/>
        </p:nvSpPr>
        <p:spPr>
          <a:xfrm>
            <a:off x="4434840" y="1965960"/>
            <a:ext cx="274320" cy="365760"/>
          </a:xfrm>
          <a:prstGeom prst="rightArrow">
            <a:avLst/>
          </a:prstGeom>
          <a:solidFill>
            <a:schemeClr val="accent2"/>
          </a:solidFill>
          <a:ln/>
        </p:spPr>
      </p:sp>
      <p:sp>
        <p:nvSpPr>
          <p:cNvPr id="8" name="Fix: paper-aware routing card"/>
          <p:cNvSpPr/>
          <p:nvPr/>
        </p:nvSpPr>
        <p:spPr>
          <a:xfrm>
            <a:off x="4800600" y="1143000"/>
            <a:ext cx="3886200" cy="2011680"/>
          </a:xfrm>
          <a:prstGeom prst="roundRect">
            <a:avLst>
              <a:gd name="adj" fmla="val 5455"/>
            </a:avLst>
          </a:prstGeom>
          <a:solidFill>
            <a:schemeClr val="tx2"/>
          </a:solidFill>
          <a:ln/>
        </p:spPr>
      </p:sp>
      <p:pic>
        <p:nvPicPr>
          <p:cNvPr id="9" name="Fix: paper-aware routing icon" descr="preencoded.png">    </p:cNvPr>
          <p:cNvPicPr>
            <a:picLocks noChangeAspect="1"/>
          </p:cNvPicPr>
          <p:nvPr/>
        </p:nvPicPr>
        <p:blipFill>
          <a:blip r:embed="rId2"/>
          <a:stretch>
            <a:fillRect/>
          </a:stretch>
        </p:blipFill>
        <p:spPr>
          <a:xfrm>
            <a:off x="5029200" y="1325880"/>
            <a:ext cx="365760" cy="365760"/>
          </a:xfrm>
          <a:prstGeom prst="rect">
            <a:avLst/>
          </a:prstGeom>
        </p:spPr>
      </p:pic>
      <p:sp>
        <p:nvSpPr>
          <p:cNvPr id="10" name="Fix: paper-aware routing heading"/>
          <p:cNvSpPr txBox="1"/>
          <p:nvPr/>
        </p:nvSpPr>
        <p:spPr>
          <a:xfrm>
            <a:off x="5532120" y="1298448"/>
            <a:ext cx="2971800" cy="411480"/>
          </a:xfrm>
          <a:prstGeom prst="rect">
            <a:avLst/>
          </a:prstGeom>
          <a:noFill/>
          <a:ln/>
        </p:spPr>
        <p:txBody>
          <a:bodyPr wrap="square" lIns="0" tIns="0" rIns="0" bIns="0" rtlCol="0" anchor="ctr"/>
          <a:lstStyle/>
          <a:p>
            <a:pPr indent="0" marL="0">
              <a:buNone/>
            </a:pPr>
            <a:r>
              <a:rPr lang="en-US" sz="1700" b="1" dirty="0">
                <a:solidFill>
                  <a:schemeClr val="bg1"/>
                </a:solidFill>
              </a:rPr>
              <a:t>Fix: paper-aware routing</a:t>
            </a:r>
            <a:endParaRPr lang="en-US" sz="1700" dirty="0"/>
          </a:p>
        </p:txBody>
      </p:sp>
      <p:sp>
        <p:nvSpPr>
          <p:cNvPr id="11" name="Fix: paper-aware routing body"/>
          <p:cNvSpPr txBox="1"/>
          <p:nvPr/>
        </p:nvSpPr>
        <p:spPr>
          <a:xfrm>
            <a:off x="5029200" y="1828800"/>
            <a:ext cx="3474720" cy="1234440"/>
          </a:xfrm>
          <a:prstGeom prst="rect">
            <a:avLst/>
          </a:prstGeom>
          <a:noFill/>
          <a:ln/>
        </p:spPr>
        <p:txBody>
          <a:bodyPr wrap="square" lIns="0" tIns="0" rIns="0" bIns="0" rtlCol="0" anchor="t"/>
          <a:lstStyle/>
          <a:p>
            <a:pPr indent="0" marL="0">
              <a:buNone/>
            </a:pPr>
            <a:r>
              <a:rPr lang="en-US" sz="1400" dirty="0">
                <a:solidFill>
                  <a:schemeClr val="bg2"/>
                </a:solidFill>
              </a:rPr>
              <a:t>When a question names papers, the top 5 results are shared among those papers. Citation precision rose to 1.00 for every chunker.</a:t>
            </a:r>
            <a:endParaRPr lang="en-US" sz="1400" dirty="0"/>
          </a:p>
        </p:txBody>
      </p:sp>
      <p:sp>
        <p:nvSpPr>
          <p:cNvPr id="12" name="Finding 1"/>
          <p:cNvSpPr txBox="1"/>
          <p:nvPr/>
        </p:nvSpPr>
        <p:spPr>
          <a:xfrm>
            <a:off x="457200" y="3429000"/>
            <a:ext cx="2606040" cy="777240"/>
          </a:xfrm>
          <a:prstGeom prst="rect">
            <a:avLst/>
          </a:prstGeom>
          <a:noFill/>
          <a:ln/>
        </p:spPr>
        <p:txBody>
          <a:bodyPr wrap="square" lIns="0" tIns="0" rIns="0" bIns="0" rtlCol="0" anchor="t"/>
          <a:lstStyle/>
          <a:p>
            <a:pPr indent="0" marL="0">
              <a:buNone/>
            </a:pPr>
            <a:r>
              <a:rPr lang="en-US" sz="1400" b="1" dirty="0">
                <a:solidFill>
                  <a:schemeClr val="tx1"/>
                </a:solidFill>
              </a:rPr>
              <a:t>Dense retrieval alone is weakest</a:t>
            </a:r>
            <a:endParaRPr lang="en-US" sz="1400" dirty="0"/>
          </a:p>
          <a:p>
            <a:pPr indent="0" marL="0">
              <a:buNone/>
            </a:pPr>
            <a:r>
              <a:rPr lang="en-US" sz="1300" dirty="0">
                <a:solidFill>
                  <a:schemeClr val="accent6"/>
                </a:solidFill>
              </a:rPr>
              <a:t>MiniLM: Recall@5 0.35–0.47</a:t>
            </a:r>
            <a:endParaRPr lang="en-US" sz="1400" dirty="0"/>
          </a:p>
        </p:txBody>
      </p:sp>
      <p:sp>
        <p:nvSpPr>
          <p:cNvPr id="13" name="Finding 2"/>
          <p:cNvSpPr txBox="1"/>
          <p:nvPr/>
        </p:nvSpPr>
        <p:spPr>
          <a:xfrm>
            <a:off x="3273552" y="3429000"/>
            <a:ext cx="2606040" cy="777240"/>
          </a:xfrm>
          <a:prstGeom prst="rect">
            <a:avLst/>
          </a:prstGeom>
          <a:noFill/>
          <a:ln/>
        </p:spPr>
        <p:txBody>
          <a:bodyPr wrap="square" lIns="0" tIns="0" rIns="0" bIns="0" rtlCol="0" anchor="t"/>
          <a:lstStyle/>
          <a:p>
            <a:pPr indent="0" marL="0">
              <a:buNone/>
            </a:pPr>
            <a:r>
              <a:rPr lang="en-US" sz="1400" b="1" dirty="0">
                <a:solidFill>
                  <a:schemeClr val="tx1"/>
                </a:solidFill>
              </a:rPr>
              <a:t>Bigger chunks inflate recall</a:t>
            </a:r>
            <a:endParaRPr lang="en-US" sz="1400" dirty="0"/>
          </a:p>
          <a:p>
            <a:pPr indent="0" marL="0">
              <a:buNone/>
            </a:pPr>
            <a:r>
              <a:rPr lang="en-US" sz="1300" dirty="0">
                <a:solidFill>
                  <a:schemeClr val="accent6"/>
                </a:solidFill>
              </a:rPr>
              <a:t>400 words gives ~170 chunks vs ~490</a:t>
            </a:r>
            <a:endParaRPr lang="en-US" sz="1400" dirty="0"/>
          </a:p>
        </p:txBody>
      </p:sp>
      <p:sp>
        <p:nvSpPr>
          <p:cNvPr id="14" name="Finding 3"/>
          <p:cNvSpPr txBox="1"/>
          <p:nvPr/>
        </p:nvSpPr>
        <p:spPr>
          <a:xfrm>
            <a:off x="6089904" y="3429000"/>
            <a:ext cx="2606040" cy="777240"/>
          </a:xfrm>
          <a:prstGeom prst="rect">
            <a:avLst/>
          </a:prstGeom>
          <a:noFill/>
          <a:ln/>
        </p:spPr>
        <p:txBody>
          <a:bodyPr wrap="square" lIns="0" tIns="0" rIns="0" bIns="0" rtlCol="0" anchor="t"/>
          <a:lstStyle/>
          <a:p>
            <a:pPr indent="0" marL="0">
              <a:buNone/>
            </a:pPr>
            <a:r>
              <a:rPr lang="en-US" sz="1400" b="1" dirty="0">
                <a:solidFill>
                  <a:schemeClr val="tx1"/>
                </a:solidFill>
              </a:rPr>
              <a:t>Remaining misses are wording</a:t>
            </a:r>
            <a:endParaRPr lang="en-US" sz="1400" dirty="0"/>
          </a:p>
          <a:p>
            <a:pPr indent="0" marL="0">
              <a:buNone/>
            </a:pPr>
            <a:r>
              <a:rPr lang="en-US" sz="1300" dirty="0">
                <a:solidFill>
                  <a:schemeClr val="accent6"/>
                </a:solidFill>
              </a:rPr>
              <a:t>“out-of-knowledge-base” vs “out of KB”</a:t>
            </a:r>
            <a:endParaRPr lang="en-US" sz="1400" dirty="0"/>
          </a:p>
        </p:txBody>
      </p:sp>
      <p:sp>
        <p:nvSpPr>
          <p:cNvPr id="15" name="Caveat"/>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200" i="1" dirty="0">
                <a:solidFill>
                  <a:schemeClr val="accent4"/>
                </a:solidFill>
              </a:rPr>
              <a:t>Caveat: routing was designed after seeing these failures, so we are confirming it on new, held-out questions.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Where we are and what's next</a:t>
            </a:r>
            <a:endParaRPr lang="en-US" sz="3000" dirty="0"/>
          </a:p>
        </p:txBody>
      </p:sp>
      <p:sp>
        <p:nvSpPr>
          <p:cNvPr id="3" name="Sprint card 1"/>
          <p:cNvSpPr/>
          <p:nvPr/>
        </p:nvSpPr>
        <p:spPr>
          <a:xfrm>
            <a:off x="457200" y="1097280"/>
            <a:ext cx="2606040" cy="1325880"/>
          </a:xfrm>
          <a:prstGeom prst="roundRect">
            <a:avLst>
              <a:gd name="adj" fmla="val 6897"/>
            </a:avLst>
          </a:prstGeom>
          <a:solidFill>
            <a:schemeClr val="bg2"/>
          </a:solidFill>
          <a:ln/>
        </p:spPr>
      </p:sp>
      <p:sp>
        <p:nvSpPr>
          <p:cNvPr id="4" name="Sprint status 1"/>
          <p:cNvSpPr/>
          <p:nvPr/>
        </p:nvSpPr>
        <p:spPr>
          <a:xfrm>
            <a:off x="640080" y="1234440"/>
            <a:ext cx="1051560" cy="274320"/>
          </a:xfrm>
          <a:prstGeom prst="roundRect">
            <a:avLst>
              <a:gd name="adj" fmla="val 50000"/>
            </a:avLst>
          </a:prstGeom>
          <a:solidFill>
            <a:schemeClr val="accent5"/>
          </a:solidFill>
          <a:ln/>
        </p:spPr>
      </p:sp>
      <p:sp>
        <p:nvSpPr>
          <p:cNvPr id="5" name="Sprint status text 1"/>
          <p:cNvSpPr txBox="1"/>
          <p:nvPr/>
        </p:nvSpPr>
        <p:spPr>
          <a:xfrm>
            <a:off x="640080" y="1234440"/>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6" name="Sprint text 1"/>
          <p:cNvSpPr txBox="1"/>
          <p:nvPr/>
        </p:nvSpPr>
        <p:spPr>
          <a:xfrm>
            <a:off x="640080" y="1600200"/>
            <a:ext cx="2286000" cy="777240"/>
          </a:xfrm>
          <a:prstGeom prst="rect">
            <a:avLst/>
          </a:prstGeom>
          <a:noFill/>
          <a:ln/>
        </p:spPr>
        <p:txBody>
          <a:bodyPr wrap="square" lIns="0" tIns="0" rIns="0" bIns="0" rtlCol="0" anchor="t"/>
          <a:lstStyle/>
          <a:p>
            <a:pPr indent="0" marL="0">
              <a:buNone/>
            </a:pPr>
            <a:r>
              <a:rPr lang="en-US" sz="1400" b="1" dirty="0">
                <a:solidFill>
                  <a:schemeClr val="tx1"/>
                </a:solidFill>
              </a:rPr>
              <a:t>Sprint 1 · 15–21 Sep</a:t>
            </a:r>
            <a:endParaRPr lang="en-US" sz="1400" dirty="0"/>
          </a:p>
          <a:p>
            <a:pPr indent="0" marL="0">
              <a:buNone/>
            </a:pPr>
            <a:r>
              <a:rPr lang="en-US" sz="1300" dirty="0">
                <a:solidFill>
                  <a:schemeClr val="accent6"/>
                </a:solidFill>
              </a:rPr>
              <a:t>Roles, corpus, questions, Walert baseline</a:t>
            </a:r>
            <a:endParaRPr lang="en-US" sz="1400" dirty="0"/>
          </a:p>
        </p:txBody>
      </p:sp>
      <p:sp>
        <p:nvSpPr>
          <p:cNvPr id="7" name="Sprint card 2"/>
          <p:cNvSpPr/>
          <p:nvPr/>
        </p:nvSpPr>
        <p:spPr>
          <a:xfrm>
            <a:off x="3273552" y="1097280"/>
            <a:ext cx="2606040" cy="1325880"/>
          </a:xfrm>
          <a:prstGeom prst="roundRect">
            <a:avLst>
              <a:gd name="adj" fmla="val 6897"/>
            </a:avLst>
          </a:prstGeom>
          <a:solidFill>
            <a:schemeClr val="bg2"/>
          </a:solidFill>
          <a:ln/>
        </p:spPr>
      </p:sp>
      <p:sp>
        <p:nvSpPr>
          <p:cNvPr id="8" name="Sprint status 2"/>
          <p:cNvSpPr/>
          <p:nvPr/>
        </p:nvSpPr>
        <p:spPr>
          <a:xfrm>
            <a:off x="3456432" y="1234440"/>
            <a:ext cx="1051560" cy="274320"/>
          </a:xfrm>
          <a:prstGeom prst="roundRect">
            <a:avLst>
              <a:gd name="adj" fmla="val 50000"/>
            </a:avLst>
          </a:prstGeom>
          <a:solidFill>
            <a:schemeClr val="accent5"/>
          </a:solidFill>
          <a:ln/>
        </p:spPr>
      </p:sp>
      <p:sp>
        <p:nvSpPr>
          <p:cNvPr id="9" name="Sprint status text 2"/>
          <p:cNvSpPr txBox="1"/>
          <p:nvPr/>
        </p:nvSpPr>
        <p:spPr>
          <a:xfrm>
            <a:off x="3456432" y="1234440"/>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10" name="Sprint text 2"/>
          <p:cNvSpPr txBox="1"/>
          <p:nvPr/>
        </p:nvSpPr>
        <p:spPr>
          <a:xfrm>
            <a:off x="3456432" y="1600200"/>
            <a:ext cx="2286000" cy="777240"/>
          </a:xfrm>
          <a:prstGeom prst="rect">
            <a:avLst/>
          </a:prstGeom>
          <a:noFill/>
          <a:ln/>
        </p:spPr>
        <p:txBody>
          <a:bodyPr wrap="square" lIns="0" tIns="0" rIns="0" bIns="0" rtlCol="0" anchor="t"/>
          <a:lstStyle/>
          <a:p>
            <a:pPr indent="0" marL="0">
              <a:buNone/>
            </a:pPr>
            <a:r>
              <a:rPr lang="en-US" sz="1400" b="1" dirty="0">
                <a:solidFill>
                  <a:schemeClr val="tx1"/>
                </a:solidFill>
              </a:rPr>
              <a:t>Sprint 2 · 22–28 Sep</a:t>
            </a:r>
            <a:endParaRPr lang="en-US" sz="1400" dirty="0"/>
          </a:p>
          <a:p>
            <a:pPr indent="0" marL="0">
              <a:buNone/>
            </a:pPr>
            <a:r>
              <a:rPr lang="en-US" sz="1300" dirty="0">
                <a:solidFill>
                  <a:schemeClr val="accent6"/>
                </a:solidFill>
              </a:rPr>
              <a:t>Ingestion, chunking, retrieval, cited answers</a:t>
            </a:r>
            <a:endParaRPr lang="en-US" sz="1400" dirty="0"/>
          </a:p>
        </p:txBody>
      </p:sp>
      <p:sp>
        <p:nvSpPr>
          <p:cNvPr id="11" name="Sprint card 3"/>
          <p:cNvSpPr/>
          <p:nvPr/>
        </p:nvSpPr>
        <p:spPr>
          <a:xfrm>
            <a:off x="6089904" y="1097280"/>
            <a:ext cx="2606040" cy="1325880"/>
          </a:xfrm>
          <a:prstGeom prst="roundRect">
            <a:avLst>
              <a:gd name="adj" fmla="val 6897"/>
            </a:avLst>
          </a:prstGeom>
          <a:solidFill>
            <a:schemeClr val="bg2"/>
          </a:solidFill>
          <a:ln/>
        </p:spPr>
      </p:sp>
      <p:sp>
        <p:nvSpPr>
          <p:cNvPr id="12" name="Sprint status 3"/>
          <p:cNvSpPr/>
          <p:nvPr/>
        </p:nvSpPr>
        <p:spPr>
          <a:xfrm>
            <a:off x="6272784" y="1234440"/>
            <a:ext cx="1051560" cy="274320"/>
          </a:xfrm>
          <a:prstGeom prst="roundRect">
            <a:avLst>
              <a:gd name="adj" fmla="val 50000"/>
            </a:avLst>
          </a:prstGeom>
          <a:solidFill>
            <a:schemeClr val="accent2"/>
          </a:solidFill>
          <a:ln/>
        </p:spPr>
      </p:sp>
      <p:sp>
        <p:nvSpPr>
          <p:cNvPr id="13" name="Sprint status text 3"/>
          <p:cNvSpPr txBox="1"/>
          <p:nvPr/>
        </p:nvSpPr>
        <p:spPr>
          <a:xfrm>
            <a:off x="6272784" y="1234440"/>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In progress</a:t>
            </a:r>
            <a:endParaRPr lang="en-US" sz="1100" dirty="0"/>
          </a:p>
        </p:txBody>
      </p:sp>
      <p:sp>
        <p:nvSpPr>
          <p:cNvPr id="14" name="Sprint text 3"/>
          <p:cNvSpPr txBox="1"/>
          <p:nvPr/>
        </p:nvSpPr>
        <p:spPr>
          <a:xfrm>
            <a:off x="6272784" y="1600200"/>
            <a:ext cx="2286000" cy="777240"/>
          </a:xfrm>
          <a:prstGeom prst="rect">
            <a:avLst/>
          </a:prstGeom>
          <a:noFill/>
          <a:ln/>
        </p:spPr>
        <p:txBody>
          <a:bodyPr wrap="square" lIns="0" tIns="0" rIns="0" bIns="0" rtlCol="0" anchor="t"/>
          <a:lstStyle/>
          <a:p>
            <a:pPr indent="0" marL="0">
              <a:buNone/>
            </a:pPr>
            <a:r>
              <a:rPr lang="en-US" sz="1400" b="1" dirty="0">
                <a:solidFill>
                  <a:schemeClr val="tx1"/>
                </a:solidFill>
              </a:rPr>
              <a:t>Sprint 3 · 29 Sep–5 Oct</a:t>
            </a:r>
            <a:endParaRPr lang="en-US" sz="1400" dirty="0"/>
          </a:p>
          <a:p>
            <a:pPr indent="0" marL="0">
              <a:buNone/>
            </a:pPr>
            <a:r>
              <a:rPr lang="en-US" sz="1300" dirty="0">
                <a:solidFill>
                  <a:schemeClr val="accent6"/>
                </a:solidFill>
              </a:rPr>
              <a:t>20-setup evaluation, error analysis, routing</a:t>
            </a:r>
            <a:endParaRPr lang="en-US" sz="1400" dirty="0"/>
          </a:p>
        </p:txBody>
      </p:sp>
      <p:sp>
        <p:nvSpPr>
          <p:cNvPr id="15" name="Next icon bg 1"/>
          <p:cNvSpPr/>
          <p:nvPr/>
        </p:nvSpPr>
        <p:spPr>
          <a:xfrm>
            <a:off x="457200" y="2743200"/>
            <a:ext cx="457200" cy="457200"/>
          </a:xfrm>
          <a:prstGeom prst="ellipse">
            <a:avLst/>
          </a:prstGeom>
          <a:solidFill>
            <a:schemeClr val="accent1"/>
          </a:solidFill>
          <a:ln/>
        </p:spPr>
      </p:sp>
      <p:pic>
        <p:nvPicPr>
          <p:cNvPr id="16" name="Next icon 1" descr="preencoded.png">    </p:cNvPr>
          <p:cNvPicPr>
            <a:picLocks noChangeAspect="1"/>
          </p:cNvPicPr>
          <p:nvPr/>
        </p:nvPicPr>
        <p:blipFill>
          <a:blip r:embed="rId1"/>
          <a:stretch>
            <a:fillRect/>
          </a:stretch>
        </p:blipFill>
        <p:spPr>
          <a:xfrm>
            <a:off x="566928" y="2852928"/>
            <a:ext cx="237744" cy="237744"/>
          </a:xfrm>
          <a:prstGeom prst="rect">
            <a:avLst/>
          </a:prstGeom>
        </p:spPr>
      </p:pic>
      <p:sp>
        <p:nvSpPr>
          <p:cNvPr id="17" name="Next text 1"/>
          <p:cNvSpPr txBox="1"/>
          <p:nvPr/>
        </p:nvSpPr>
        <p:spPr>
          <a:xfrm>
            <a:off x="1051560" y="2697480"/>
            <a:ext cx="3429000" cy="731520"/>
          </a:xfrm>
          <a:prstGeom prst="rect">
            <a:avLst/>
          </a:prstGeom>
          <a:noFill/>
          <a:ln/>
        </p:spPr>
        <p:txBody>
          <a:bodyPr wrap="square" lIns="0" tIns="0" rIns="0" bIns="0" rtlCol="0" anchor="t"/>
          <a:lstStyle/>
          <a:p>
            <a:pPr indent="0" marL="0">
              <a:buNone/>
            </a:pPr>
            <a:r>
              <a:rPr lang="en-US" sz="1400" b="1" dirty="0">
                <a:solidFill>
                  <a:schemeClr val="tx1"/>
                </a:solidFill>
              </a:rPr>
              <a:t>Validate routing on held-out questions</a:t>
            </a:r>
            <a:endParaRPr lang="en-US" sz="1400" dirty="0"/>
          </a:p>
          <a:p>
            <a:pPr indent="0" marL="0">
              <a:buNone/>
            </a:pPr>
            <a:r>
              <a:rPr lang="en-US" sz="1200" dirty="0">
                <a:solidFill>
                  <a:schemeClr val="accent6"/>
                </a:solidFill>
              </a:rPr>
              <a:t>Owner: Deboprio</a:t>
            </a:r>
            <a:endParaRPr lang="en-US" sz="1400" dirty="0"/>
          </a:p>
        </p:txBody>
      </p:sp>
      <p:sp>
        <p:nvSpPr>
          <p:cNvPr id="18" name="Next icon bg 2"/>
          <p:cNvSpPr/>
          <p:nvPr/>
        </p:nvSpPr>
        <p:spPr>
          <a:xfrm>
            <a:off x="4663440" y="2743200"/>
            <a:ext cx="457200" cy="457200"/>
          </a:xfrm>
          <a:prstGeom prst="ellipse">
            <a:avLst/>
          </a:prstGeom>
          <a:solidFill>
            <a:schemeClr val="accent4"/>
          </a:solidFill>
          <a:ln/>
        </p:spPr>
      </p:sp>
      <p:pic>
        <p:nvPicPr>
          <p:cNvPr id="19" name="Next icon 2" descr="preencoded.png">    </p:cNvPr>
          <p:cNvPicPr>
            <a:picLocks noChangeAspect="1"/>
          </p:cNvPicPr>
          <p:nvPr/>
        </p:nvPicPr>
        <p:blipFill>
          <a:blip r:embed="rId2"/>
          <a:stretch>
            <a:fillRect/>
          </a:stretch>
        </p:blipFill>
        <p:spPr>
          <a:xfrm>
            <a:off x="4773168" y="2852928"/>
            <a:ext cx="237744" cy="237744"/>
          </a:xfrm>
          <a:prstGeom prst="rect">
            <a:avLst/>
          </a:prstGeom>
        </p:spPr>
      </p:pic>
      <p:sp>
        <p:nvSpPr>
          <p:cNvPr id="20" name="Next text 2"/>
          <p:cNvSpPr txBox="1"/>
          <p:nvPr/>
        </p:nvSpPr>
        <p:spPr>
          <a:xfrm>
            <a:off x="5257800" y="2697480"/>
            <a:ext cx="3429000" cy="731520"/>
          </a:xfrm>
          <a:prstGeom prst="rect">
            <a:avLst/>
          </a:prstGeom>
          <a:noFill/>
          <a:ln/>
        </p:spPr>
        <p:txBody>
          <a:bodyPr wrap="square" lIns="0" tIns="0" rIns="0" bIns="0" rtlCol="0" anchor="t"/>
          <a:lstStyle/>
          <a:p>
            <a:pPr indent="0" marL="0">
              <a:buNone/>
            </a:pPr>
            <a:r>
              <a:rPr lang="en-US" sz="1400" b="1" dirty="0">
                <a:solidFill>
                  <a:schemeClr val="tx1"/>
                </a:solidFill>
              </a:rPr>
              <a:t>Run LLM answer generation (blocked: needs an API key)</a:t>
            </a:r>
            <a:endParaRPr lang="en-US" sz="1400" dirty="0"/>
          </a:p>
          <a:p>
            <a:pPr indent="0" marL="0">
              <a:buNone/>
            </a:pPr>
            <a:r>
              <a:rPr lang="en-US" sz="1200" dirty="0">
                <a:solidFill>
                  <a:schemeClr val="accent6"/>
                </a:solidFill>
              </a:rPr>
              <a:t>Owner: Dhanush</a:t>
            </a:r>
            <a:endParaRPr lang="en-US" sz="1400" dirty="0"/>
          </a:p>
        </p:txBody>
      </p:sp>
      <p:sp>
        <p:nvSpPr>
          <p:cNvPr id="21" name="Next icon bg 3"/>
          <p:cNvSpPr/>
          <p:nvPr/>
        </p:nvSpPr>
        <p:spPr>
          <a:xfrm>
            <a:off x="457200" y="3611880"/>
            <a:ext cx="457200" cy="457200"/>
          </a:xfrm>
          <a:prstGeom prst="ellipse">
            <a:avLst/>
          </a:prstGeom>
          <a:solidFill>
            <a:schemeClr val="accent4"/>
          </a:solidFill>
          <a:ln/>
        </p:spPr>
      </p:sp>
      <p:pic>
        <p:nvPicPr>
          <p:cNvPr id="22" name="Next icon 3" descr="preencoded.png">    </p:cNvPr>
          <p:cNvPicPr>
            <a:picLocks noChangeAspect="1"/>
          </p:cNvPicPr>
          <p:nvPr/>
        </p:nvPicPr>
        <p:blipFill>
          <a:blip r:embed="rId3"/>
          <a:stretch>
            <a:fillRect/>
          </a:stretch>
        </p:blipFill>
        <p:spPr>
          <a:xfrm>
            <a:off x="566928" y="3721608"/>
            <a:ext cx="237744" cy="237744"/>
          </a:xfrm>
          <a:prstGeom prst="rect">
            <a:avLst/>
          </a:prstGeom>
        </p:spPr>
      </p:pic>
      <p:sp>
        <p:nvSpPr>
          <p:cNvPr id="23" name="Next text 3"/>
          <p:cNvSpPr txBox="1"/>
          <p:nvPr/>
        </p:nvSpPr>
        <p:spPr>
          <a:xfrm>
            <a:off x="1051560" y="3566160"/>
            <a:ext cx="3429000" cy="731520"/>
          </a:xfrm>
          <a:prstGeom prst="rect">
            <a:avLst/>
          </a:prstGeom>
          <a:noFill/>
          <a:ln/>
        </p:spPr>
        <p:txBody>
          <a:bodyPr wrap="square" lIns="0" tIns="0" rIns="0" bIns="0" rtlCol="0" anchor="t"/>
          <a:lstStyle/>
          <a:p>
            <a:pPr indent="0" marL="0">
              <a:buNone/>
            </a:pPr>
            <a:r>
              <a:rPr lang="en-US" sz="1400" b="1" dirty="0">
                <a:solidFill>
                  <a:schemeClr val="tx1"/>
                </a:solidFill>
              </a:rPr>
              <a:t>Push experiment commits (blocked: GitHub 403)</a:t>
            </a:r>
            <a:endParaRPr lang="en-US" sz="1400" dirty="0"/>
          </a:p>
          <a:p>
            <a:pPr indent="0" marL="0">
              <a:buNone/>
            </a:pPr>
            <a:r>
              <a:rPr lang="en-US" sz="1200" dirty="0">
                <a:solidFill>
                  <a:schemeClr val="accent6"/>
                </a:solidFill>
              </a:rPr>
              <a:t>Owner: Amritpal</a:t>
            </a:r>
            <a:endParaRPr lang="en-US" sz="1400" dirty="0"/>
          </a:p>
        </p:txBody>
      </p:sp>
      <p:sp>
        <p:nvSpPr>
          <p:cNvPr id="24" name="Next icon bg 4"/>
          <p:cNvSpPr/>
          <p:nvPr/>
        </p:nvSpPr>
        <p:spPr>
          <a:xfrm>
            <a:off x="4663440" y="3611880"/>
            <a:ext cx="457200" cy="457200"/>
          </a:xfrm>
          <a:prstGeom prst="ellipse">
            <a:avLst/>
          </a:prstGeom>
          <a:solidFill>
            <a:schemeClr val="accent1"/>
          </a:solidFill>
          <a:ln/>
        </p:spPr>
      </p:sp>
      <p:pic>
        <p:nvPicPr>
          <p:cNvPr id="25" name="Next icon 4" descr="preencoded.png">    </p:cNvPr>
          <p:cNvPicPr>
            <a:picLocks noChangeAspect="1"/>
          </p:cNvPicPr>
          <p:nvPr/>
        </p:nvPicPr>
        <p:blipFill>
          <a:blip r:embed="rId4"/>
          <a:stretch>
            <a:fillRect/>
          </a:stretch>
        </p:blipFill>
        <p:spPr>
          <a:xfrm>
            <a:off x="4773168" y="3721608"/>
            <a:ext cx="237744" cy="237744"/>
          </a:xfrm>
          <a:prstGeom prst="rect">
            <a:avLst/>
          </a:prstGeom>
        </p:spPr>
      </p:pic>
      <p:sp>
        <p:nvSpPr>
          <p:cNvPr id="26" name="Next text 4"/>
          <p:cNvSpPr txBox="1"/>
          <p:nvPr/>
        </p:nvSpPr>
        <p:spPr>
          <a:xfrm>
            <a:off x="5257800" y="3566160"/>
            <a:ext cx="3429000" cy="731520"/>
          </a:xfrm>
          <a:prstGeom prst="rect">
            <a:avLst/>
          </a:prstGeom>
          <a:noFill/>
          <a:ln/>
        </p:spPr>
        <p:txBody>
          <a:bodyPr wrap="square" lIns="0" tIns="0" rIns="0" bIns="0" rtlCol="0" anchor="t"/>
          <a:lstStyle/>
          <a:p>
            <a:pPr indent="0" marL="0">
              <a:buNone/>
            </a:pPr>
            <a:r>
              <a:rPr lang="en-US" sz="1400" b="1" dirty="0">
                <a:solidFill>
                  <a:schemeClr val="tx1"/>
                </a:solidFill>
              </a:rPr>
              <a:t>Fix PDF text errors: garbled equations, “Query” read as “Qery”</a:t>
            </a:r>
            <a:endParaRPr lang="en-US" sz="1400" dirty="0"/>
          </a:p>
          <a:p>
            <a:pPr indent="0" marL="0">
              <a:buNone/>
            </a:pPr>
            <a:r>
              <a:rPr lang="en-US" sz="1200" dirty="0">
                <a:solidFill>
                  <a:schemeClr val="accent6"/>
                </a:solidFill>
              </a:rPr>
              <a:t>Owner: Imranjit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How we'll scale it up</a:t>
            </a:r>
            <a:endParaRPr lang="en-US" sz="3000" dirty="0"/>
          </a:p>
        </p:txBody>
      </p:sp>
      <p:sp>
        <p:nvSpPr>
          <p:cNvPr id="3" name="Phase card 1"/>
          <p:cNvSpPr/>
          <p:nvPr/>
        </p:nvSpPr>
        <p:spPr>
          <a:xfrm>
            <a:off x="457200" y="1188720"/>
            <a:ext cx="2514600" cy="2788920"/>
          </a:xfrm>
          <a:prstGeom prst="roundRect">
            <a:avLst>
              <a:gd name="adj" fmla="val 4364"/>
            </a:avLst>
          </a:prstGeom>
          <a:solidFill>
            <a:schemeClr val="accent6"/>
          </a:solidFill>
          <a:ln/>
        </p:spPr>
      </p:sp>
      <p:sp>
        <p:nvSpPr>
          <p:cNvPr id="4" name="Phase number bg 1"/>
          <p:cNvSpPr/>
          <p:nvPr/>
        </p:nvSpPr>
        <p:spPr>
          <a:xfrm>
            <a:off x="685800" y="1371600"/>
            <a:ext cx="502920" cy="502920"/>
          </a:xfrm>
          <a:prstGeom prst="ellipse">
            <a:avLst/>
          </a:prstGeom>
          <a:solidFill>
            <a:schemeClr val="accent2"/>
          </a:solidFill>
          <a:ln/>
        </p:spPr>
      </p:sp>
      <p:sp>
        <p:nvSpPr>
          <p:cNvPr id="5" name="Phase number 1"/>
          <p:cNvSpPr txBox="1"/>
          <p:nvPr/>
        </p:nvSpPr>
        <p:spPr>
          <a:xfrm>
            <a:off x="68580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6" name="Phase title 1"/>
          <p:cNvSpPr txBox="1"/>
          <p:nvPr/>
        </p:nvSpPr>
        <p:spPr>
          <a:xfrm>
            <a:off x="685800" y="2011680"/>
            <a:ext cx="2057400" cy="548640"/>
          </a:xfrm>
          <a:prstGeom prst="rect">
            <a:avLst/>
          </a:prstGeom>
          <a:noFill/>
          <a:ln/>
        </p:spPr>
        <p:txBody>
          <a:bodyPr wrap="square" lIns="0" tIns="0" rIns="0" bIns="0" rtlCol="0" anchor="t"/>
          <a:lstStyle/>
          <a:p>
            <a:pPr indent="0" marL="0">
              <a:buNone/>
            </a:pPr>
            <a:r>
              <a:rPr lang="en-US" sz="1600" b="1" dirty="0">
                <a:solidFill>
                  <a:schemeClr val="bg1"/>
                </a:solidFill>
              </a:rPr>
              <a:t>Finish Sprint 3</a:t>
            </a:r>
            <a:endParaRPr lang="en-US" sz="1600" dirty="0"/>
          </a:p>
        </p:txBody>
      </p:sp>
      <p:sp>
        <p:nvSpPr>
          <p:cNvPr id="7" name="Phase detail 1"/>
          <p:cNvSpPr txBox="1"/>
          <p:nvPr/>
        </p:nvSpPr>
        <p:spPr>
          <a:xfrm>
            <a:off x="685800" y="2606040"/>
            <a:ext cx="2057400" cy="868680"/>
          </a:xfrm>
          <a:prstGeom prst="rect">
            <a:avLst/>
          </a:prstGeom>
          <a:noFill/>
          <a:ln/>
        </p:spPr>
        <p:txBody>
          <a:bodyPr wrap="square" lIns="0" tIns="0" rIns="0" bIns="0" rtlCol="0" anchor="t"/>
          <a:lstStyle/>
          <a:p>
            <a:pPr indent="0" marL="0">
              <a:buNone/>
            </a:pPr>
            <a:r>
              <a:rPr lang="en-US" sz="1300" dirty="0">
                <a:solidFill>
                  <a:schemeClr val="bg2"/>
                </a:solidFill>
              </a:rPr>
              <a:t>Test routing on held-out questions; run LLM answers once we get an API key</a:t>
            </a:r>
            <a:endParaRPr lang="en-US" sz="1300" dirty="0"/>
          </a:p>
        </p:txBody>
      </p:sp>
      <p:sp>
        <p:nvSpPr>
          <p:cNvPr id="8" name="Phase question 1"/>
          <p:cNvSpPr txBox="1"/>
          <p:nvPr/>
        </p:nvSpPr>
        <p:spPr>
          <a:xfrm>
            <a:off x="685800" y="3474720"/>
            <a:ext cx="2057400" cy="457200"/>
          </a:xfrm>
          <a:prstGeom prst="rect">
            <a:avLst/>
          </a:prstGeom>
          <a:noFill/>
          <a:ln/>
        </p:spPr>
        <p:txBody>
          <a:bodyPr wrap="square" lIns="0" tIns="0" rIns="0" bIns="0" rtlCol="0" anchor="t"/>
          <a:lstStyle/>
          <a:p>
            <a:pPr indent="0" marL="0">
              <a:buNone/>
            </a:pPr>
            <a:r>
              <a:rPr lang="en-US" sz="1300" b="1" i="1" dirty="0">
                <a:solidFill>
                  <a:schemeClr val="accent2"/>
                </a:solidFill>
              </a:rPr>
              <a:t>A trustworthy baseline</a:t>
            </a:r>
            <a:endParaRPr lang="en-US" sz="1300" dirty="0"/>
          </a:p>
        </p:txBody>
      </p:sp>
      <p:sp>
        <p:nvSpPr>
          <p:cNvPr id="9" name="Phase arrow 1"/>
          <p:cNvSpPr/>
          <p:nvPr/>
        </p:nvSpPr>
        <p:spPr>
          <a:xfrm>
            <a:off x="3044952" y="2377440"/>
            <a:ext cx="201168" cy="274320"/>
          </a:xfrm>
          <a:prstGeom prst="rightArrow">
            <a:avLst/>
          </a:prstGeom>
          <a:solidFill>
            <a:schemeClr val="accent3"/>
          </a:solidFill>
          <a:ln/>
        </p:spPr>
      </p:sp>
      <p:sp>
        <p:nvSpPr>
          <p:cNvPr id="10" name="Phase card 2"/>
          <p:cNvSpPr/>
          <p:nvPr/>
        </p:nvSpPr>
        <p:spPr>
          <a:xfrm>
            <a:off x="3314700" y="1188720"/>
            <a:ext cx="2514600" cy="2788920"/>
          </a:xfrm>
          <a:prstGeom prst="roundRect">
            <a:avLst>
              <a:gd name="adj" fmla="val 4364"/>
            </a:avLst>
          </a:prstGeom>
          <a:solidFill>
            <a:schemeClr val="accent6"/>
          </a:solidFill>
          <a:ln/>
        </p:spPr>
      </p:sp>
      <p:sp>
        <p:nvSpPr>
          <p:cNvPr id="11" name="Phase number bg 2"/>
          <p:cNvSpPr/>
          <p:nvPr/>
        </p:nvSpPr>
        <p:spPr>
          <a:xfrm>
            <a:off x="3543300" y="1371600"/>
            <a:ext cx="502920" cy="502920"/>
          </a:xfrm>
          <a:prstGeom prst="ellipse">
            <a:avLst/>
          </a:prstGeom>
          <a:solidFill>
            <a:schemeClr val="accent2"/>
          </a:solidFill>
          <a:ln/>
        </p:spPr>
      </p:sp>
      <p:sp>
        <p:nvSpPr>
          <p:cNvPr id="12" name="Phase number 2"/>
          <p:cNvSpPr txBox="1"/>
          <p:nvPr/>
        </p:nvSpPr>
        <p:spPr>
          <a:xfrm>
            <a:off x="354330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3" name="Phase title 2"/>
          <p:cNvSpPr txBox="1"/>
          <p:nvPr/>
        </p:nvSpPr>
        <p:spPr>
          <a:xfrm>
            <a:off x="3543300" y="2011680"/>
            <a:ext cx="2057400" cy="548640"/>
          </a:xfrm>
          <a:prstGeom prst="rect">
            <a:avLst/>
          </a:prstGeom>
          <a:noFill/>
          <a:ln/>
        </p:spPr>
        <p:txBody>
          <a:bodyPr wrap="square" lIns="0" tIns="0" rIns="0" bIns="0" rtlCol="0" anchor="t"/>
          <a:lstStyle/>
          <a:p>
            <a:pPr indent="0" marL="0">
              <a:buNone/>
            </a:pPr>
            <a:r>
              <a:rPr lang="en-US" sz="1600" b="1" dirty="0">
                <a:solidFill>
                  <a:schemeClr val="bg1"/>
                </a:solidFill>
              </a:rPr>
              <a:t>8 → 20–30 papers, same topic</a:t>
            </a:r>
            <a:endParaRPr lang="en-US" sz="1600" dirty="0"/>
          </a:p>
        </p:txBody>
      </p:sp>
      <p:sp>
        <p:nvSpPr>
          <p:cNvPr id="14" name="Phase detail 2"/>
          <p:cNvSpPr txBox="1"/>
          <p:nvPr/>
        </p:nvSpPr>
        <p:spPr>
          <a:xfrm>
            <a:off x="3543300" y="2606040"/>
            <a:ext cx="2057400" cy="868680"/>
          </a:xfrm>
          <a:prstGeom prst="rect">
            <a:avLst/>
          </a:prstGeom>
          <a:noFill/>
          <a:ln/>
        </p:spPr>
        <p:txBody>
          <a:bodyPr wrap="square" lIns="0" tIns="0" rIns="0" bIns="0" rtlCol="0" anchor="t"/>
          <a:lstStyle/>
          <a:p>
            <a:pPr indent="0" marL="0">
              <a:buNone/>
            </a:pPr>
            <a:r>
              <a:rPr lang="en-US" sz="1300" dirty="0">
                <a:solidFill>
                  <a:schemeClr val="bg2"/>
                </a:solidFill>
              </a:rPr>
              <a:t>More similar papers make the wrong-paper test harder</a:t>
            </a:r>
            <a:endParaRPr lang="en-US" sz="1300" dirty="0"/>
          </a:p>
        </p:txBody>
      </p:sp>
      <p:sp>
        <p:nvSpPr>
          <p:cNvPr id="15" name="Phase question 2"/>
          <p:cNvSpPr txBox="1"/>
          <p:nvPr/>
        </p:nvSpPr>
        <p:spPr>
          <a:xfrm>
            <a:off x="3543300" y="3474720"/>
            <a:ext cx="2057400" cy="457200"/>
          </a:xfrm>
          <a:prstGeom prst="rect">
            <a:avLst/>
          </a:prstGeom>
          <a:noFill/>
          <a:ln/>
        </p:spPr>
        <p:txBody>
          <a:bodyPr wrap="square" lIns="0" tIns="0" rIns="0" bIns="0" rtlCol="0" anchor="t"/>
          <a:lstStyle/>
          <a:p>
            <a:pPr indent="0" marL="0">
              <a:buNone/>
            </a:pPr>
            <a:r>
              <a:rPr lang="en-US" sz="1300" b="1" i="1" dirty="0">
                <a:solidFill>
                  <a:schemeClr val="accent2"/>
                </a:solidFill>
              </a:rPr>
              <a:t>Does citation precision stay near 1.00?</a:t>
            </a:r>
            <a:endParaRPr lang="en-US" sz="1300" dirty="0"/>
          </a:p>
        </p:txBody>
      </p:sp>
      <p:sp>
        <p:nvSpPr>
          <p:cNvPr id="16" name="Phase arrow 2"/>
          <p:cNvSpPr/>
          <p:nvPr/>
        </p:nvSpPr>
        <p:spPr>
          <a:xfrm>
            <a:off x="5902452" y="2377440"/>
            <a:ext cx="201168" cy="274320"/>
          </a:xfrm>
          <a:prstGeom prst="rightArrow">
            <a:avLst/>
          </a:prstGeom>
          <a:solidFill>
            <a:schemeClr val="accent3"/>
          </a:solidFill>
          <a:ln/>
        </p:spPr>
      </p:sp>
      <p:sp>
        <p:nvSpPr>
          <p:cNvPr id="17" name="Phase card 3"/>
          <p:cNvSpPr/>
          <p:nvPr/>
        </p:nvSpPr>
        <p:spPr>
          <a:xfrm>
            <a:off x="6172200" y="1188720"/>
            <a:ext cx="2514600" cy="2788920"/>
          </a:xfrm>
          <a:prstGeom prst="roundRect">
            <a:avLst>
              <a:gd name="adj" fmla="val 4364"/>
            </a:avLst>
          </a:prstGeom>
          <a:solidFill>
            <a:schemeClr val="accent6"/>
          </a:solidFill>
          <a:ln/>
        </p:spPr>
      </p:sp>
      <p:sp>
        <p:nvSpPr>
          <p:cNvPr id="18" name="Phase number bg 3"/>
          <p:cNvSpPr/>
          <p:nvPr/>
        </p:nvSpPr>
        <p:spPr>
          <a:xfrm>
            <a:off x="6400800" y="1371600"/>
            <a:ext cx="502920" cy="502920"/>
          </a:xfrm>
          <a:prstGeom prst="ellipse">
            <a:avLst/>
          </a:prstGeom>
          <a:solidFill>
            <a:schemeClr val="accent2"/>
          </a:solidFill>
          <a:ln/>
        </p:spPr>
      </p:sp>
      <p:sp>
        <p:nvSpPr>
          <p:cNvPr id="19" name="Phase number 3"/>
          <p:cNvSpPr txBox="1"/>
          <p:nvPr/>
        </p:nvSpPr>
        <p:spPr>
          <a:xfrm>
            <a:off x="640080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3</a:t>
            </a:r>
            <a:endParaRPr lang="en-US" sz="1800" dirty="0"/>
          </a:p>
        </p:txBody>
      </p:sp>
      <p:sp>
        <p:nvSpPr>
          <p:cNvPr id="20" name="Phase title 3"/>
          <p:cNvSpPr txBox="1"/>
          <p:nvPr/>
        </p:nvSpPr>
        <p:spPr>
          <a:xfrm>
            <a:off x="6400800" y="2011680"/>
            <a:ext cx="2057400" cy="548640"/>
          </a:xfrm>
          <a:prstGeom prst="rect">
            <a:avLst/>
          </a:prstGeom>
          <a:noFill/>
          <a:ln/>
        </p:spPr>
        <p:txBody>
          <a:bodyPr wrap="square" lIns="0" tIns="0" rIns="0" bIns="0" rtlCol="0" anchor="t"/>
          <a:lstStyle/>
          <a:p>
            <a:pPr indent="0" marL="0">
              <a:buNone/>
            </a:pPr>
            <a:r>
              <a:rPr lang="en-US" sz="1600" b="1" dirty="0">
                <a:solidFill>
                  <a:schemeClr val="bg1"/>
                </a:solidFill>
              </a:rPr>
              <a:t>A second topic, then hundreds</a:t>
            </a:r>
            <a:endParaRPr lang="en-US" sz="1600" dirty="0"/>
          </a:p>
        </p:txBody>
      </p:sp>
      <p:sp>
        <p:nvSpPr>
          <p:cNvPr id="21" name="Phase detail 3"/>
          <p:cNvSpPr txBox="1"/>
          <p:nvPr/>
        </p:nvSpPr>
        <p:spPr>
          <a:xfrm>
            <a:off x="6400800" y="2606040"/>
            <a:ext cx="2057400" cy="868680"/>
          </a:xfrm>
          <a:prstGeom prst="rect">
            <a:avLst/>
          </a:prstGeom>
          <a:noFill/>
          <a:ln/>
        </p:spPr>
        <p:txBody>
          <a:bodyPr wrap="square" lIns="0" tIns="0" rIns="0" bIns="0" rtlCol="0" anchor="t"/>
          <a:lstStyle/>
          <a:p>
            <a:pPr indent="0" marL="0">
              <a:buNone/>
            </a:pPr>
            <a:r>
              <a:rPr lang="en-US" sz="1300" dirty="0">
                <a:solidFill>
                  <a:schemeClr val="bg2"/>
                </a:solidFill>
              </a:rPr>
              <a:t>Check the system isn't tuned to one research field</a:t>
            </a:r>
            <a:endParaRPr lang="en-US" sz="1300" dirty="0"/>
          </a:p>
        </p:txBody>
      </p:sp>
      <p:sp>
        <p:nvSpPr>
          <p:cNvPr id="22" name="Phase question 3"/>
          <p:cNvSpPr txBox="1"/>
          <p:nvPr/>
        </p:nvSpPr>
        <p:spPr>
          <a:xfrm>
            <a:off x="6400800" y="3474720"/>
            <a:ext cx="2057400" cy="457200"/>
          </a:xfrm>
          <a:prstGeom prst="rect">
            <a:avLst/>
          </a:prstGeom>
          <a:noFill/>
          <a:ln/>
        </p:spPr>
        <p:txBody>
          <a:bodyPr wrap="square" lIns="0" tIns="0" rIns="0" bIns="0" rtlCol="0" anchor="t"/>
          <a:lstStyle/>
          <a:p>
            <a:pPr indent="0" marL="0">
              <a:buNone/>
            </a:pPr>
            <a:r>
              <a:rPr lang="en-US" sz="1300" b="1" i="1" dirty="0">
                <a:solidFill>
                  <a:schemeClr val="accent2"/>
                </a:solidFill>
              </a:rPr>
              <a:t>Does it generalise?</a:t>
            </a:r>
            <a:endParaRPr lang="en-US" sz="1300" dirty="0"/>
          </a:p>
        </p:txBody>
      </p:sp>
      <p:sp>
        <p:nvSpPr>
          <p:cNvPr id="23" name="Closing"/>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Thank you. Questions?</a:t>
            </a:r>
            <a:endParaRPr lang="en-US" sz="2200" dirty="0"/>
          </a:p>
        </p:txBody>
      </p:sp>
    </p:spTree>
  </p:cSld>
  <p:clrMapOvr>
    <a:masterClrMapping/>
  </p:clrMapOvr>
</p:sld>
</file>

<file path=ppt/theme/theme1.xml><?xml version="1.0" encoding="utf-8"?>
<a:theme xmlns:a="http://schemas.openxmlformats.org/drawingml/2006/main" name="Grounded Ink">
  <a:themeElements>
    <a:clrScheme name="Grounded Ink">
      <a:dk1>
        <a:srgbClr val="1E2A2E"/>
      </a:dk1>
      <a:lt1>
        <a:srgbClr val="FFFFFF"/>
      </a:lt1>
      <a:dk2>
        <a:srgbClr val="0F4C52"/>
      </a:dk2>
      <a:lt2>
        <a:srgbClr val="EDF3F2"/>
      </a:lt2>
      <a:accent1>
        <a:srgbClr val="0F6E73"/>
      </a:accent1>
      <a:accent2>
        <a:srgbClr val="E08A2C"/>
      </a:accent2>
      <a:accent3>
        <a:srgbClr val="8A9A9D"/>
      </a:accent3>
      <a:accent4>
        <a:srgbClr val="B3412E"/>
      </a:accent4>
      <a:accent5>
        <a:srgbClr val="5E8C61"/>
      </a:accent5>
      <a:accent6>
        <a:srgbClr val="2D3E43"/>
      </a:accent6>
      <a:hlink>
        <a:srgbClr val="0F6E73"/>
      </a:hlink>
      <a:folHlink>
        <a:srgbClr val="5E7D80"/>
      </a:folHlink>
    </a:clrScheme>
    <a:fontScheme name="Grounded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Paper-Grounded RAG Research Assistant</dc:title>
  <dc:subject>PptxGenJS Presentation</dc:subject>
  <dc:creator>WIL Project 24</dc:creator>
  <cp:lastModifiedBy>WIL Project 24</cp:lastModifiedBy>
  <cp:revision>1</cp:revision>
  <dcterms:created xsi:type="dcterms:W3CDTF">2026-10-04T09:05:34Z</dcterms:created>
  <dcterms:modified xsi:type="dcterms:W3CDTF">2026-10-04T09:05:34Z</dcterms:modified>
</cp:coreProperties>
</file>